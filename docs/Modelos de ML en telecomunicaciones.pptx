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y="5143500" cx="9144000"/>
  <p:notesSz cx="6858000" cy="9144000"/>
  <p:embeddedFontLst>
    <p:embeddedFont>
      <p:font typeface="Nunito"/>
      <p:regular r:id="rId18"/>
      <p:bold r:id="rId19"/>
      <p:italic r:id="rId20"/>
      <p:boldItalic r:id="rId21"/>
    </p:embeddedFont>
    <p:embeddedFont>
      <p:font typeface="Inter"/>
      <p:regular r:id="rId22"/>
      <p:bold r:id="rId23"/>
      <p:italic r:id="rId24"/>
      <p:boldItalic r:id="rId25"/>
    </p:embeddedFont>
    <p:embeddedFont>
      <p:font typeface="Maven Pro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722BFE-1788-4BD6-A9B6-8FC50C1D2A24}">
  <a:tblStyle styleId="{53722BFE-1788-4BD6-A9B6-8FC50C1D2A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Nunito-italic.fntdata"/><Relationship Id="rId22" Type="http://schemas.openxmlformats.org/officeDocument/2006/relationships/font" Target="fonts/Inter-regular.fntdata"/><Relationship Id="rId21" Type="http://schemas.openxmlformats.org/officeDocument/2006/relationships/font" Target="fonts/Nunito-boldItalic.fntdata"/><Relationship Id="rId24" Type="http://schemas.openxmlformats.org/officeDocument/2006/relationships/font" Target="fonts/Inter-italic.fntdata"/><Relationship Id="rId23" Type="http://schemas.openxmlformats.org/officeDocument/2006/relationships/font" Target="fonts/Inter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MavenPro-regular.fntdata"/><Relationship Id="rId25" Type="http://schemas.openxmlformats.org/officeDocument/2006/relationships/font" Target="fonts/Inter-boldItalic.fntdata"/><Relationship Id="rId27" Type="http://schemas.openxmlformats.org/officeDocument/2006/relationships/font" Target="fonts/MavenPro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font" Target="fonts/Nunito-bold.fntdata"/><Relationship Id="rId18" Type="http://schemas.openxmlformats.org/officeDocument/2006/relationships/font" Target="fonts/Nunito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h5347f3572d394ad8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h5347f3572d394ad8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h5347f3572d394ad8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h5347f3572d394ad8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h5347f3572d394ad8_4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" name="Google Shape;296;h5347f3572d394ad8_4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h5347f3572d394ad8_4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h5347f3572d394ad8_4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h5347f3572d394ad8_4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h5347f3572d394ad8_4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h5347f3572d394ad8_4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h5347f3572d394ad8_4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h5347f3572d394ad8_4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1" name="Google Shape;331;h5347f3572d394ad8_4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h6aa5fe9aaa3cc816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h6aa5fe9aaa3cc816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h6b7a6c085a8a3ac7_3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h6b7a6c085a8a3ac7_3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h5347f3572d394ad8_4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h5347f3572d394ad8_4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3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7343003" y="3409675"/>
            <a:ext cx="1691422" cy="1732548"/>
            <a:chOff x="7343003" y="3409675"/>
            <a:chExt cx="1691422" cy="1732548"/>
          </a:xfrm>
        </p:grpSpPr>
        <p:grpSp>
          <p:nvGrpSpPr>
            <p:cNvPr id="11" name="Google Shape;11;p2"/>
            <p:cNvGrpSpPr/>
            <p:nvPr/>
          </p:nvGrpSpPr>
          <p:grpSpPr>
            <a:xfrm>
              <a:off x="7343003" y="4453711"/>
              <a:ext cx="316800" cy="688513"/>
              <a:chOff x="7343003" y="4453711"/>
              <a:chExt cx="316800" cy="688513"/>
            </a:xfrm>
          </p:grpSpPr>
          <p:sp>
            <p:nvSpPr>
              <p:cNvPr id="12" name="Google Shape;12;p2"/>
              <p:cNvSpPr/>
              <p:nvPr/>
            </p:nvSpPr>
            <p:spPr>
              <a:xfrm>
                <a:off x="7343003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" name="Google Shape;13;p2"/>
              <p:cNvSpPr/>
              <p:nvPr/>
            </p:nvSpPr>
            <p:spPr>
              <a:xfrm>
                <a:off x="7343003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" name="Google Shape;14;p2"/>
            <p:cNvGrpSpPr/>
            <p:nvPr/>
          </p:nvGrpSpPr>
          <p:grpSpPr>
            <a:xfrm>
              <a:off x="7801210" y="4105700"/>
              <a:ext cx="316800" cy="1036523"/>
              <a:chOff x="7801210" y="4105700"/>
              <a:chExt cx="316800" cy="1036523"/>
            </a:xfrm>
          </p:grpSpPr>
          <p:sp>
            <p:nvSpPr>
              <p:cNvPr id="15" name="Google Shape;15;p2"/>
              <p:cNvSpPr/>
              <p:nvPr/>
            </p:nvSpPr>
            <p:spPr>
              <a:xfrm>
                <a:off x="7801210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7801210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>
                <a:off x="7801210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" name="Google Shape;18;p2"/>
            <p:cNvGrpSpPr/>
            <p:nvPr/>
          </p:nvGrpSpPr>
          <p:grpSpPr>
            <a:xfrm>
              <a:off x="8259418" y="3757688"/>
              <a:ext cx="316800" cy="1384535"/>
              <a:chOff x="8259418" y="3757688"/>
              <a:chExt cx="316800" cy="1384535"/>
            </a:xfrm>
          </p:grpSpPr>
          <p:sp>
            <p:nvSpPr>
              <p:cNvPr id="19" name="Google Shape;19;p2"/>
              <p:cNvSpPr/>
              <p:nvPr/>
            </p:nvSpPr>
            <p:spPr>
              <a:xfrm>
                <a:off x="8259418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8259418" y="3757688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8259418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8259418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8717625" y="3409675"/>
              <a:ext cx="316800" cy="1732548"/>
              <a:chOff x="8717625" y="3409675"/>
              <a:chExt cx="316800" cy="1732548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8717625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8717625" y="3757688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8717625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8717625" y="3409675"/>
                <a:ext cx="316800" cy="1732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8717625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9" name="Google Shape;29;p2"/>
          <p:cNvGrpSpPr/>
          <p:nvPr/>
        </p:nvGrpSpPr>
        <p:grpSpPr>
          <a:xfrm>
            <a:off x="5043503" y="0"/>
            <a:ext cx="3814072" cy="3839102"/>
            <a:chOff x="5043503" y="0"/>
            <a:chExt cx="3814072" cy="3839102"/>
          </a:xfrm>
        </p:grpSpPr>
        <p:sp>
          <p:nvSpPr>
            <p:cNvPr id="30" name="Google Shape;30;p2"/>
            <p:cNvSpPr/>
            <p:nvPr/>
          </p:nvSpPr>
          <p:spPr>
            <a:xfrm>
              <a:off x="8460975" y="1817775"/>
              <a:ext cx="396600" cy="3966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 rot="-9830444">
              <a:off x="6469759" y="3480728"/>
              <a:ext cx="320148" cy="320148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2" name="Google Shape;32;p2"/>
            <p:cNvGrpSpPr/>
            <p:nvPr/>
          </p:nvGrpSpPr>
          <p:grpSpPr>
            <a:xfrm>
              <a:off x="7647812" y="2704283"/>
              <a:ext cx="635219" cy="635219"/>
              <a:chOff x="6725724" y="2701260"/>
              <a:chExt cx="1208101" cy="1208100"/>
            </a:xfrm>
          </p:grpSpPr>
          <p:sp>
            <p:nvSpPr>
              <p:cNvPr id="33" name="Google Shape;33;p2"/>
              <p:cNvSpPr/>
              <p:nvPr/>
            </p:nvSpPr>
            <p:spPr>
              <a:xfrm rot="5400000">
                <a:off x="6725725" y="2701260"/>
                <a:ext cx="1208100" cy="12081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 rot="5400000">
                <a:off x="6725724" y="2701260"/>
                <a:ext cx="1208100" cy="1208100"/>
              </a:xfrm>
              <a:prstGeom prst="pie">
                <a:avLst>
                  <a:gd fmla="val 8244818" name="adj1"/>
                  <a:gd fmla="val 16246175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" name="Google Shape;35;p2"/>
              <p:cNvSpPr/>
              <p:nvPr/>
            </p:nvSpPr>
            <p:spPr>
              <a:xfrm rot="5400000">
                <a:off x="6954988" y="2930398"/>
                <a:ext cx="749700" cy="7497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6" name="Google Shape;36;p2"/>
            <p:cNvSpPr/>
            <p:nvPr/>
          </p:nvSpPr>
          <p:spPr>
            <a:xfrm>
              <a:off x="8460975" y="1817775"/>
              <a:ext cx="396600" cy="396600"/>
            </a:xfrm>
            <a:prstGeom prst="pie">
              <a:avLst>
                <a:gd fmla="val 1937684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7" name="Google Shape;37;p2"/>
            <p:cNvGrpSpPr/>
            <p:nvPr/>
          </p:nvGrpSpPr>
          <p:grpSpPr>
            <a:xfrm>
              <a:off x="7952720" y="179238"/>
              <a:ext cx="873165" cy="873003"/>
              <a:chOff x="7754428" y="208725"/>
              <a:chExt cx="541800" cy="541800"/>
            </a:xfrm>
          </p:grpSpPr>
          <p:sp>
            <p:nvSpPr>
              <p:cNvPr id="38" name="Google Shape;38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pie">
                <a:avLst>
                  <a:gd fmla="val 19376841" name="adj1"/>
                  <a:gd fmla="val 12313574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0" name="Google Shape;40;p2"/>
            <p:cNvSpPr/>
            <p:nvPr/>
          </p:nvSpPr>
          <p:spPr>
            <a:xfrm>
              <a:off x="5399840" y="356365"/>
              <a:ext cx="2577000" cy="25770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 rot="2043858">
              <a:off x="5503813" y="460310"/>
              <a:ext cx="2369480" cy="236948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5399795" y="360281"/>
              <a:ext cx="2577000" cy="2577000"/>
            </a:xfrm>
            <a:prstGeom prst="pie">
              <a:avLst>
                <a:gd fmla="val 8801158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 rot="2044777">
              <a:off x="5911449" y="867729"/>
              <a:ext cx="1554223" cy="1554223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5399795" y="356358"/>
              <a:ext cx="2577000" cy="2577000"/>
            </a:xfrm>
            <a:prstGeom prst="pie">
              <a:avLst>
                <a:gd fmla="val 1255410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 rot="-9830444">
              <a:off x="6469759" y="3480727"/>
              <a:ext cx="320148" cy="320148"/>
            </a:xfrm>
            <a:prstGeom prst="pie">
              <a:avLst>
                <a:gd fmla="val 1937684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6" name="Google Shape;46;p2"/>
          <p:cNvSpPr txBox="1"/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2"/>
          <p:cNvSpPr txBox="1"/>
          <p:nvPr>
            <p:ph idx="1" type="subTitle"/>
          </p:nvPr>
        </p:nvSpPr>
        <p:spPr>
          <a:xfrm>
            <a:off x="824000" y="3596300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2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oogle Shape;50;p3"/>
          <p:cNvGrpSpPr/>
          <p:nvPr/>
        </p:nvGrpSpPr>
        <p:grpSpPr>
          <a:xfrm>
            <a:off x="146769" y="3406"/>
            <a:ext cx="1233215" cy="1384535"/>
            <a:chOff x="146769" y="3406"/>
            <a:chExt cx="1233215" cy="1384535"/>
          </a:xfrm>
        </p:grpSpPr>
        <p:grpSp>
          <p:nvGrpSpPr>
            <p:cNvPr id="51" name="Google Shape;51;p3"/>
            <p:cNvGrpSpPr/>
            <p:nvPr/>
          </p:nvGrpSpPr>
          <p:grpSpPr>
            <a:xfrm>
              <a:off x="1063183" y="3406"/>
              <a:ext cx="316800" cy="688513"/>
              <a:chOff x="1063183" y="3406"/>
              <a:chExt cx="316800" cy="688513"/>
            </a:xfrm>
          </p:grpSpPr>
          <p:sp>
            <p:nvSpPr>
              <p:cNvPr id="52" name="Google Shape;52;p3"/>
              <p:cNvSpPr/>
              <p:nvPr/>
            </p:nvSpPr>
            <p:spPr>
              <a:xfrm rot="10800000">
                <a:off x="1063183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" name="Google Shape;53;p3"/>
              <p:cNvSpPr/>
              <p:nvPr/>
            </p:nvSpPr>
            <p:spPr>
              <a:xfrm rot="10800000">
                <a:off x="1063183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4" name="Google Shape;54;p3"/>
            <p:cNvGrpSpPr/>
            <p:nvPr/>
          </p:nvGrpSpPr>
          <p:grpSpPr>
            <a:xfrm>
              <a:off x="604976" y="3406"/>
              <a:ext cx="316800" cy="1036524"/>
              <a:chOff x="604976" y="3406"/>
              <a:chExt cx="316800" cy="1036524"/>
            </a:xfrm>
          </p:grpSpPr>
          <p:sp>
            <p:nvSpPr>
              <p:cNvPr id="55" name="Google Shape;55;p3"/>
              <p:cNvSpPr/>
              <p:nvPr/>
            </p:nvSpPr>
            <p:spPr>
              <a:xfrm rot="10800000">
                <a:off x="604976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" name="Google Shape;56;p3"/>
              <p:cNvSpPr/>
              <p:nvPr/>
            </p:nvSpPr>
            <p:spPr>
              <a:xfrm rot="10800000">
                <a:off x="604976" y="343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" name="Google Shape;57;p3"/>
              <p:cNvSpPr/>
              <p:nvPr/>
            </p:nvSpPr>
            <p:spPr>
              <a:xfrm rot="10800000">
                <a:off x="604976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8" name="Google Shape;58;p3"/>
            <p:cNvGrpSpPr/>
            <p:nvPr/>
          </p:nvGrpSpPr>
          <p:grpSpPr>
            <a:xfrm>
              <a:off x="146769" y="3406"/>
              <a:ext cx="316800" cy="1384535"/>
              <a:chOff x="146769" y="3406"/>
              <a:chExt cx="316800" cy="1384535"/>
            </a:xfrm>
          </p:grpSpPr>
          <p:sp>
            <p:nvSpPr>
              <p:cNvPr id="59" name="Google Shape;59;p3"/>
              <p:cNvSpPr/>
              <p:nvPr/>
            </p:nvSpPr>
            <p:spPr>
              <a:xfrm rot="10800000">
                <a:off x="146769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" name="Google Shape;60;p3"/>
              <p:cNvSpPr/>
              <p:nvPr/>
            </p:nvSpPr>
            <p:spPr>
              <a:xfrm rot="10800000">
                <a:off x="146769" y="3441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" name="Google Shape;61;p3"/>
              <p:cNvSpPr/>
              <p:nvPr/>
            </p:nvSpPr>
            <p:spPr>
              <a:xfrm rot="10800000">
                <a:off x="146769" y="343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" name="Google Shape;62;p3"/>
              <p:cNvSpPr/>
              <p:nvPr/>
            </p:nvSpPr>
            <p:spPr>
              <a:xfrm rot="10800000">
                <a:off x="146769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63" name="Google Shape;63;p3"/>
          <p:cNvGrpSpPr/>
          <p:nvPr/>
        </p:nvGrpSpPr>
        <p:grpSpPr>
          <a:xfrm>
            <a:off x="6775084" y="2904008"/>
            <a:ext cx="2186148" cy="2239500"/>
            <a:chOff x="6775084" y="2904008"/>
            <a:chExt cx="2186148" cy="2239500"/>
          </a:xfrm>
        </p:grpSpPr>
        <p:grpSp>
          <p:nvGrpSpPr>
            <p:cNvPr id="64" name="Google Shape;64;p3"/>
            <p:cNvGrpSpPr/>
            <p:nvPr/>
          </p:nvGrpSpPr>
          <p:grpSpPr>
            <a:xfrm>
              <a:off x="6775084" y="4253708"/>
              <a:ext cx="409500" cy="889800"/>
              <a:chOff x="6775084" y="4253708"/>
              <a:chExt cx="409500" cy="889800"/>
            </a:xfrm>
          </p:grpSpPr>
          <p:sp>
            <p:nvSpPr>
              <p:cNvPr id="65" name="Google Shape;65;p3"/>
              <p:cNvSpPr/>
              <p:nvPr/>
            </p:nvSpPr>
            <p:spPr>
              <a:xfrm>
                <a:off x="6775084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6775084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7" name="Google Shape;67;p3"/>
            <p:cNvGrpSpPr/>
            <p:nvPr/>
          </p:nvGrpSpPr>
          <p:grpSpPr>
            <a:xfrm>
              <a:off x="7367299" y="3804008"/>
              <a:ext cx="409500" cy="1339500"/>
              <a:chOff x="7367299" y="3804008"/>
              <a:chExt cx="409500" cy="1339500"/>
            </a:xfrm>
          </p:grpSpPr>
          <p:sp>
            <p:nvSpPr>
              <p:cNvPr id="68" name="Google Shape;68;p3"/>
              <p:cNvSpPr/>
              <p:nvPr/>
            </p:nvSpPr>
            <p:spPr>
              <a:xfrm>
                <a:off x="7367299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" name="Google Shape;69;p3"/>
              <p:cNvSpPr/>
              <p:nvPr/>
            </p:nvSpPr>
            <p:spPr>
              <a:xfrm>
                <a:off x="7367299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" name="Google Shape;70;p3"/>
              <p:cNvSpPr/>
              <p:nvPr/>
            </p:nvSpPr>
            <p:spPr>
              <a:xfrm>
                <a:off x="7367299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1" name="Google Shape;71;p3"/>
            <p:cNvGrpSpPr/>
            <p:nvPr/>
          </p:nvGrpSpPr>
          <p:grpSpPr>
            <a:xfrm>
              <a:off x="7959516" y="3354008"/>
              <a:ext cx="409500" cy="1789500"/>
              <a:chOff x="7959516" y="3354008"/>
              <a:chExt cx="409500" cy="1789500"/>
            </a:xfrm>
          </p:grpSpPr>
          <p:sp>
            <p:nvSpPr>
              <p:cNvPr id="72" name="Google Shape;72;p3"/>
              <p:cNvSpPr/>
              <p:nvPr/>
            </p:nvSpPr>
            <p:spPr>
              <a:xfrm>
                <a:off x="7959516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" name="Google Shape;73;p3"/>
              <p:cNvSpPr/>
              <p:nvPr/>
            </p:nvSpPr>
            <p:spPr>
              <a:xfrm>
                <a:off x="7959516" y="3354008"/>
                <a:ext cx="409500" cy="178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" name="Google Shape;74;p3"/>
              <p:cNvSpPr/>
              <p:nvPr/>
            </p:nvSpPr>
            <p:spPr>
              <a:xfrm>
                <a:off x="7959516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" name="Google Shape;75;p3"/>
              <p:cNvSpPr/>
              <p:nvPr/>
            </p:nvSpPr>
            <p:spPr>
              <a:xfrm>
                <a:off x="7959516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6" name="Google Shape;76;p3"/>
            <p:cNvGrpSpPr/>
            <p:nvPr/>
          </p:nvGrpSpPr>
          <p:grpSpPr>
            <a:xfrm>
              <a:off x="8551731" y="2904008"/>
              <a:ext cx="409500" cy="2239500"/>
              <a:chOff x="8551731" y="2904008"/>
              <a:chExt cx="409500" cy="2239500"/>
            </a:xfrm>
          </p:grpSpPr>
          <p:sp>
            <p:nvSpPr>
              <p:cNvPr id="77" name="Google Shape;77;p3"/>
              <p:cNvSpPr/>
              <p:nvPr/>
            </p:nvSpPr>
            <p:spPr>
              <a:xfrm>
                <a:off x="8551731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" name="Google Shape;78;p3"/>
              <p:cNvSpPr/>
              <p:nvPr/>
            </p:nvSpPr>
            <p:spPr>
              <a:xfrm>
                <a:off x="8551731" y="3354008"/>
                <a:ext cx="409500" cy="178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" name="Google Shape;79;p3"/>
              <p:cNvSpPr/>
              <p:nvPr/>
            </p:nvSpPr>
            <p:spPr>
              <a:xfrm>
                <a:off x="8551731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" name="Google Shape;80;p3"/>
              <p:cNvSpPr/>
              <p:nvPr/>
            </p:nvSpPr>
            <p:spPr>
              <a:xfrm>
                <a:off x="8551731" y="2904008"/>
                <a:ext cx="409500" cy="22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" name="Google Shape;81;p3"/>
              <p:cNvSpPr/>
              <p:nvPr/>
            </p:nvSpPr>
            <p:spPr>
              <a:xfrm>
                <a:off x="8551731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82" name="Google Shape;82;p3"/>
          <p:cNvSpPr txBox="1"/>
          <p:nvPr>
            <p:ph type="title"/>
          </p:nvPr>
        </p:nvSpPr>
        <p:spPr>
          <a:xfrm>
            <a:off x="824000" y="1613825"/>
            <a:ext cx="58578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3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4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86" name="Google Shape;86;p4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4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8" name="Google Shape;88;p4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9" name="Google Shape;89;p4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0" name="Google Shape;90;p4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5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93" name="Google Shape;93;p5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5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5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6" name="Google Shape;96;p5"/>
          <p:cNvSpPr txBox="1"/>
          <p:nvPr>
            <p:ph idx="1" type="body"/>
          </p:nvPr>
        </p:nvSpPr>
        <p:spPr>
          <a:xfrm>
            <a:off x="130380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7" name="Google Shape;97;p5"/>
          <p:cNvSpPr txBox="1"/>
          <p:nvPr>
            <p:ph idx="2" type="body"/>
          </p:nvPr>
        </p:nvSpPr>
        <p:spPr>
          <a:xfrm>
            <a:off x="490365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5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6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1" name="Google Shape;101;p6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6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6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4" name="Google Shape;104;p6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7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7" name="Google Shape;107;p7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7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9" name="Google Shape;109;p7"/>
          <p:cNvSpPr txBox="1"/>
          <p:nvPr>
            <p:ph type="title"/>
          </p:nvPr>
        </p:nvSpPr>
        <p:spPr>
          <a:xfrm>
            <a:off x="1303800" y="598575"/>
            <a:ext cx="3312000" cy="15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0" name="Google Shape;110;p7"/>
          <p:cNvSpPr txBox="1"/>
          <p:nvPr>
            <p:ph idx="1" type="body"/>
          </p:nvPr>
        </p:nvSpPr>
        <p:spPr>
          <a:xfrm>
            <a:off x="1303800" y="2309675"/>
            <a:ext cx="3312000" cy="222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11" name="Google Shape;111;p7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dk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oogle Shape;113;p8"/>
          <p:cNvGrpSpPr/>
          <p:nvPr/>
        </p:nvGrpSpPr>
        <p:grpSpPr>
          <a:xfrm>
            <a:off x="6866714" y="1306"/>
            <a:ext cx="2267451" cy="2601690"/>
            <a:chOff x="6790514" y="1306"/>
            <a:chExt cx="2267451" cy="2601690"/>
          </a:xfrm>
        </p:grpSpPr>
        <p:grpSp>
          <p:nvGrpSpPr>
            <p:cNvPr id="114" name="Google Shape;114;p8"/>
            <p:cNvGrpSpPr/>
            <p:nvPr/>
          </p:nvGrpSpPr>
          <p:grpSpPr>
            <a:xfrm>
              <a:off x="7067465" y="1306"/>
              <a:ext cx="1990500" cy="1990200"/>
              <a:chOff x="7067465" y="1306"/>
              <a:chExt cx="1990500" cy="1990200"/>
            </a:xfrm>
          </p:grpSpPr>
          <p:sp>
            <p:nvSpPr>
              <p:cNvPr id="115" name="Google Shape;115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pie">
                <a:avLst>
                  <a:gd fmla="val 19376841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 rot="-8649154">
                <a:off x="7349891" y="283705"/>
                <a:ext cx="1425647" cy="14254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18" name="Google Shape;118;p8"/>
            <p:cNvGrpSpPr/>
            <p:nvPr/>
          </p:nvGrpSpPr>
          <p:grpSpPr>
            <a:xfrm>
              <a:off x="8207126" y="1807996"/>
              <a:ext cx="795000" cy="795000"/>
              <a:chOff x="8207126" y="1807996"/>
              <a:chExt cx="795000" cy="795000"/>
            </a:xfrm>
          </p:grpSpPr>
          <p:sp>
            <p:nvSpPr>
              <p:cNvPr id="119" name="Google Shape;119;p8"/>
              <p:cNvSpPr/>
              <p:nvPr/>
            </p:nvSpPr>
            <p:spPr>
              <a:xfrm rot="2152054">
                <a:off x="8319942" y="1920813"/>
                <a:ext cx="569367" cy="569367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" name="Google Shape;121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pie">
                <a:avLst>
                  <a:gd fmla="val 5699893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2" name="Google Shape;122;p8"/>
            <p:cNvGrpSpPr/>
            <p:nvPr/>
          </p:nvGrpSpPr>
          <p:grpSpPr>
            <a:xfrm>
              <a:off x="6790514" y="118857"/>
              <a:ext cx="548700" cy="548700"/>
              <a:chOff x="6790514" y="118857"/>
              <a:chExt cx="548700" cy="548700"/>
            </a:xfrm>
          </p:grpSpPr>
          <p:sp>
            <p:nvSpPr>
              <p:cNvPr id="123" name="Google Shape;123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pie">
                <a:avLst>
                  <a:gd fmla="val 5699893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25" name="Google Shape;125;p8"/>
          <p:cNvSpPr txBox="1"/>
          <p:nvPr>
            <p:ph type="title"/>
          </p:nvPr>
        </p:nvSpPr>
        <p:spPr>
          <a:xfrm>
            <a:off x="824000" y="763600"/>
            <a:ext cx="5857800" cy="357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6" name="Google Shape;126;p8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9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29" name="Google Shape;129;p9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9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1" name="Google Shape;131;p9"/>
          <p:cNvSpPr txBox="1"/>
          <p:nvPr>
            <p:ph type="title"/>
          </p:nvPr>
        </p:nvSpPr>
        <p:spPr>
          <a:xfrm>
            <a:off x="1303800" y="598575"/>
            <a:ext cx="3430500" cy="19902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2" name="Google Shape;132;p9"/>
          <p:cNvSpPr txBox="1"/>
          <p:nvPr>
            <p:ph idx="1" type="subTitle"/>
          </p:nvPr>
        </p:nvSpPr>
        <p:spPr>
          <a:xfrm>
            <a:off x="1303800" y="2743203"/>
            <a:ext cx="3430500" cy="7260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33" name="Google Shape;133;p9"/>
          <p:cNvSpPr txBox="1"/>
          <p:nvPr>
            <p:ph idx="2" type="body"/>
          </p:nvPr>
        </p:nvSpPr>
        <p:spPr>
          <a:xfrm>
            <a:off x="4903700" y="661000"/>
            <a:ext cx="3430500" cy="38706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34" name="Google Shape;134;p9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p10"/>
          <p:cNvGrpSpPr/>
          <p:nvPr/>
        </p:nvGrpSpPr>
        <p:grpSpPr>
          <a:xfrm>
            <a:off x="713373" y="3847119"/>
            <a:ext cx="825392" cy="825392"/>
            <a:chOff x="348199" y="179450"/>
            <a:chExt cx="1116300" cy="1116300"/>
          </a:xfrm>
        </p:grpSpPr>
        <p:sp>
          <p:nvSpPr>
            <p:cNvPr id="137" name="Google Shape;137;p10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10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5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9" name="Google Shape;139;p10"/>
          <p:cNvSpPr txBox="1"/>
          <p:nvPr>
            <p:ph idx="1" type="body"/>
          </p:nvPr>
        </p:nvSpPr>
        <p:spPr>
          <a:xfrm>
            <a:off x="1303800" y="4138975"/>
            <a:ext cx="5843100" cy="53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40" name="Google Shape;140;p10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" name="Google Shape;142;p11"/>
          <p:cNvGrpSpPr/>
          <p:nvPr/>
        </p:nvGrpSpPr>
        <p:grpSpPr>
          <a:xfrm>
            <a:off x="52" y="4099200"/>
            <a:ext cx="9144036" cy="1044300"/>
            <a:chOff x="52" y="4099200"/>
            <a:chExt cx="9144036" cy="1044300"/>
          </a:xfrm>
        </p:grpSpPr>
        <p:grpSp>
          <p:nvGrpSpPr>
            <p:cNvPr id="143" name="Google Shape;143;p11"/>
            <p:cNvGrpSpPr/>
            <p:nvPr/>
          </p:nvGrpSpPr>
          <p:grpSpPr>
            <a:xfrm>
              <a:off x="52" y="4309200"/>
              <a:ext cx="231622" cy="834300"/>
              <a:chOff x="2688737" y="4301380"/>
              <a:chExt cx="231900" cy="834300"/>
            </a:xfrm>
          </p:grpSpPr>
          <p:sp>
            <p:nvSpPr>
              <p:cNvPr id="144" name="Google Shape;144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" name="Google Shape;145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" name="Google Shape;146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" name="Google Shape;147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8" name="Google Shape;148;p11"/>
            <p:cNvGrpSpPr/>
            <p:nvPr/>
          </p:nvGrpSpPr>
          <p:grpSpPr>
            <a:xfrm>
              <a:off x="371406" y="4099200"/>
              <a:ext cx="231622" cy="1044300"/>
              <a:chOff x="2688737" y="4091380"/>
              <a:chExt cx="231900" cy="1044300"/>
            </a:xfrm>
          </p:grpSpPr>
          <p:sp>
            <p:nvSpPr>
              <p:cNvPr id="149" name="Google Shape;149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" name="Google Shape;150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" name="Google Shape;15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" name="Google Shape;152;p11"/>
              <p:cNvSpPr/>
              <p:nvPr/>
            </p:nvSpPr>
            <p:spPr>
              <a:xfrm flipH="1">
                <a:off x="2688737" y="4091380"/>
                <a:ext cx="2319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" name="Google Shape;153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4" name="Google Shape;154;p11"/>
            <p:cNvGrpSpPr/>
            <p:nvPr/>
          </p:nvGrpSpPr>
          <p:grpSpPr>
            <a:xfrm>
              <a:off x="742761" y="4309200"/>
              <a:ext cx="231622" cy="834300"/>
              <a:chOff x="2688737" y="4301380"/>
              <a:chExt cx="231900" cy="834300"/>
            </a:xfrm>
          </p:grpSpPr>
          <p:sp>
            <p:nvSpPr>
              <p:cNvPr id="155" name="Google Shape;155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" name="Google Shape;156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" name="Google Shape;157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" name="Google Shape;158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9" name="Google Shape;159;p11"/>
            <p:cNvGrpSpPr/>
            <p:nvPr/>
          </p:nvGrpSpPr>
          <p:grpSpPr>
            <a:xfrm>
              <a:off x="1114115" y="4518900"/>
              <a:ext cx="231622" cy="624600"/>
              <a:chOff x="2688737" y="4511080"/>
              <a:chExt cx="231900" cy="624600"/>
            </a:xfrm>
          </p:grpSpPr>
          <p:sp>
            <p:nvSpPr>
              <p:cNvPr id="160" name="Google Shape;160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" name="Google Shape;16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" name="Google Shape;162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3" name="Google Shape;163;p11"/>
            <p:cNvGrpSpPr/>
            <p:nvPr/>
          </p:nvGrpSpPr>
          <p:grpSpPr>
            <a:xfrm>
              <a:off x="1856753" y="4099200"/>
              <a:ext cx="231600" cy="1044300"/>
              <a:chOff x="1856753" y="4099200"/>
              <a:chExt cx="231600" cy="1044300"/>
            </a:xfrm>
          </p:grpSpPr>
          <p:sp>
            <p:nvSpPr>
              <p:cNvPr id="164" name="Google Shape;164;p11"/>
              <p:cNvSpPr/>
              <p:nvPr/>
            </p:nvSpPr>
            <p:spPr>
              <a:xfrm flipH="1">
                <a:off x="185675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 flipH="1">
                <a:off x="1856753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 flipH="1">
                <a:off x="185675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" name="Google Shape;167;p11"/>
              <p:cNvSpPr/>
              <p:nvPr/>
            </p:nvSpPr>
            <p:spPr>
              <a:xfrm flipH="1">
                <a:off x="1856753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" name="Google Shape;168;p11"/>
              <p:cNvSpPr/>
              <p:nvPr/>
            </p:nvSpPr>
            <p:spPr>
              <a:xfrm flipH="1">
                <a:off x="185675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9" name="Google Shape;169;p11"/>
            <p:cNvGrpSpPr/>
            <p:nvPr/>
          </p:nvGrpSpPr>
          <p:grpSpPr>
            <a:xfrm>
              <a:off x="2228107" y="4309200"/>
              <a:ext cx="231600" cy="834300"/>
              <a:chOff x="2228107" y="4309200"/>
              <a:chExt cx="231600" cy="834300"/>
            </a:xfrm>
          </p:grpSpPr>
          <p:sp>
            <p:nvSpPr>
              <p:cNvPr id="170" name="Google Shape;170;p11"/>
              <p:cNvSpPr/>
              <p:nvPr/>
            </p:nvSpPr>
            <p:spPr>
              <a:xfrm flipH="1">
                <a:off x="2228107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 flipH="1">
                <a:off x="2228107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 flipH="1">
                <a:off x="2228107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" name="Google Shape;173;p11"/>
              <p:cNvSpPr/>
              <p:nvPr/>
            </p:nvSpPr>
            <p:spPr>
              <a:xfrm flipH="1">
                <a:off x="2228107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4" name="Google Shape;174;p11"/>
            <p:cNvGrpSpPr/>
            <p:nvPr/>
          </p:nvGrpSpPr>
          <p:grpSpPr>
            <a:xfrm>
              <a:off x="2599462" y="4518900"/>
              <a:ext cx="231600" cy="624600"/>
              <a:chOff x="2599462" y="4518900"/>
              <a:chExt cx="231600" cy="624600"/>
            </a:xfrm>
          </p:grpSpPr>
          <p:sp>
            <p:nvSpPr>
              <p:cNvPr id="175" name="Google Shape;175;p11"/>
              <p:cNvSpPr/>
              <p:nvPr/>
            </p:nvSpPr>
            <p:spPr>
              <a:xfrm flipH="1">
                <a:off x="2599462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" name="Google Shape;176;p11"/>
              <p:cNvSpPr/>
              <p:nvPr/>
            </p:nvSpPr>
            <p:spPr>
              <a:xfrm flipH="1">
                <a:off x="2599462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" name="Google Shape;177;p11"/>
              <p:cNvSpPr/>
              <p:nvPr/>
            </p:nvSpPr>
            <p:spPr>
              <a:xfrm flipH="1">
                <a:off x="2599462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8" name="Google Shape;178;p11"/>
            <p:cNvGrpSpPr/>
            <p:nvPr/>
          </p:nvGrpSpPr>
          <p:grpSpPr>
            <a:xfrm>
              <a:off x="3342171" y="4099200"/>
              <a:ext cx="231600" cy="1044300"/>
              <a:chOff x="3342171" y="4099200"/>
              <a:chExt cx="231600" cy="1044300"/>
            </a:xfrm>
          </p:grpSpPr>
          <p:sp>
            <p:nvSpPr>
              <p:cNvPr id="179" name="Google Shape;179;p11"/>
              <p:cNvSpPr/>
              <p:nvPr/>
            </p:nvSpPr>
            <p:spPr>
              <a:xfrm flipH="1">
                <a:off x="3342171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" name="Google Shape;180;p11"/>
              <p:cNvSpPr/>
              <p:nvPr/>
            </p:nvSpPr>
            <p:spPr>
              <a:xfrm flipH="1">
                <a:off x="3342171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" name="Google Shape;181;p11"/>
              <p:cNvSpPr/>
              <p:nvPr/>
            </p:nvSpPr>
            <p:spPr>
              <a:xfrm flipH="1">
                <a:off x="3342171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11"/>
              <p:cNvSpPr/>
              <p:nvPr/>
            </p:nvSpPr>
            <p:spPr>
              <a:xfrm flipH="1">
                <a:off x="3342171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" name="Google Shape;183;p11"/>
              <p:cNvSpPr/>
              <p:nvPr/>
            </p:nvSpPr>
            <p:spPr>
              <a:xfrm flipH="1">
                <a:off x="3342171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4" name="Google Shape;184;p11"/>
            <p:cNvGrpSpPr/>
            <p:nvPr/>
          </p:nvGrpSpPr>
          <p:grpSpPr>
            <a:xfrm>
              <a:off x="3713525" y="4309200"/>
              <a:ext cx="231600" cy="834300"/>
              <a:chOff x="3713525" y="4309200"/>
              <a:chExt cx="231600" cy="834300"/>
            </a:xfrm>
          </p:grpSpPr>
          <p:sp>
            <p:nvSpPr>
              <p:cNvPr id="185" name="Google Shape;185;p11"/>
              <p:cNvSpPr/>
              <p:nvPr/>
            </p:nvSpPr>
            <p:spPr>
              <a:xfrm flipH="1">
                <a:off x="3713525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" name="Google Shape;186;p11"/>
              <p:cNvSpPr/>
              <p:nvPr/>
            </p:nvSpPr>
            <p:spPr>
              <a:xfrm flipH="1">
                <a:off x="3713525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" name="Google Shape;187;p11"/>
              <p:cNvSpPr/>
              <p:nvPr/>
            </p:nvSpPr>
            <p:spPr>
              <a:xfrm flipH="1">
                <a:off x="3713525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8" name="Google Shape;188;p11"/>
              <p:cNvSpPr/>
              <p:nvPr/>
            </p:nvSpPr>
            <p:spPr>
              <a:xfrm flipH="1">
                <a:off x="3713525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9" name="Google Shape;189;p11"/>
            <p:cNvGrpSpPr/>
            <p:nvPr/>
          </p:nvGrpSpPr>
          <p:grpSpPr>
            <a:xfrm>
              <a:off x="1485398" y="4309200"/>
              <a:ext cx="231600" cy="834300"/>
              <a:chOff x="1485398" y="4309200"/>
              <a:chExt cx="231600" cy="834300"/>
            </a:xfrm>
          </p:grpSpPr>
          <p:sp>
            <p:nvSpPr>
              <p:cNvPr id="190" name="Google Shape;190;p11"/>
              <p:cNvSpPr/>
              <p:nvPr/>
            </p:nvSpPr>
            <p:spPr>
              <a:xfrm flipH="1">
                <a:off x="148539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" name="Google Shape;191;p11"/>
              <p:cNvSpPr/>
              <p:nvPr/>
            </p:nvSpPr>
            <p:spPr>
              <a:xfrm flipH="1">
                <a:off x="148539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" name="Google Shape;192;p11"/>
              <p:cNvSpPr/>
              <p:nvPr/>
            </p:nvSpPr>
            <p:spPr>
              <a:xfrm flipH="1">
                <a:off x="148539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" name="Google Shape;193;p11"/>
              <p:cNvSpPr/>
              <p:nvPr/>
            </p:nvSpPr>
            <p:spPr>
              <a:xfrm flipH="1">
                <a:off x="148539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4" name="Google Shape;194;p11"/>
            <p:cNvGrpSpPr/>
            <p:nvPr/>
          </p:nvGrpSpPr>
          <p:grpSpPr>
            <a:xfrm>
              <a:off x="4084879" y="4518900"/>
              <a:ext cx="231600" cy="624600"/>
              <a:chOff x="4084879" y="4518900"/>
              <a:chExt cx="231600" cy="624600"/>
            </a:xfrm>
          </p:grpSpPr>
          <p:sp>
            <p:nvSpPr>
              <p:cNvPr id="195" name="Google Shape;195;p11"/>
              <p:cNvSpPr/>
              <p:nvPr/>
            </p:nvSpPr>
            <p:spPr>
              <a:xfrm flipH="1">
                <a:off x="4084879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" name="Google Shape;196;p11"/>
              <p:cNvSpPr/>
              <p:nvPr/>
            </p:nvSpPr>
            <p:spPr>
              <a:xfrm flipH="1">
                <a:off x="4084879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7" name="Google Shape;197;p11"/>
              <p:cNvSpPr/>
              <p:nvPr/>
            </p:nvSpPr>
            <p:spPr>
              <a:xfrm flipH="1">
                <a:off x="4084879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8" name="Google Shape;198;p11"/>
            <p:cNvGrpSpPr/>
            <p:nvPr/>
          </p:nvGrpSpPr>
          <p:grpSpPr>
            <a:xfrm>
              <a:off x="2970816" y="4309200"/>
              <a:ext cx="231600" cy="834300"/>
              <a:chOff x="2970816" y="4309200"/>
              <a:chExt cx="231600" cy="834300"/>
            </a:xfrm>
          </p:grpSpPr>
          <p:sp>
            <p:nvSpPr>
              <p:cNvPr id="199" name="Google Shape;199;p11"/>
              <p:cNvSpPr/>
              <p:nvPr/>
            </p:nvSpPr>
            <p:spPr>
              <a:xfrm flipH="1">
                <a:off x="2970816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" name="Google Shape;200;p11"/>
              <p:cNvSpPr/>
              <p:nvPr/>
            </p:nvSpPr>
            <p:spPr>
              <a:xfrm flipH="1">
                <a:off x="2970816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" name="Google Shape;201;p11"/>
              <p:cNvSpPr/>
              <p:nvPr/>
            </p:nvSpPr>
            <p:spPr>
              <a:xfrm flipH="1">
                <a:off x="2970816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" name="Google Shape;202;p11"/>
              <p:cNvSpPr/>
              <p:nvPr/>
            </p:nvSpPr>
            <p:spPr>
              <a:xfrm flipH="1">
                <a:off x="2970816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3" name="Google Shape;203;p11"/>
            <p:cNvGrpSpPr/>
            <p:nvPr/>
          </p:nvGrpSpPr>
          <p:grpSpPr>
            <a:xfrm>
              <a:off x="4456234" y="4309200"/>
              <a:ext cx="231600" cy="834300"/>
              <a:chOff x="4456234" y="4309200"/>
              <a:chExt cx="231600" cy="834300"/>
            </a:xfrm>
          </p:grpSpPr>
          <p:sp>
            <p:nvSpPr>
              <p:cNvPr id="204" name="Google Shape;204;p11"/>
              <p:cNvSpPr/>
              <p:nvPr/>
            </p:nvSpPr>
            <p:spPr>
              <a:xfrm flipH="1">
                <a:off x="4456234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" name="Google Shape;205;p11"/>
              <p:cNvSpPr/>
              <p:nvPr/>
            </p:nvSpPr>
            <p:spPr>
              <a:xfrm flipH="1">
                <a:off x="4456234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" name="Google Shape;206;p11"/>
              <p:cNvSpPr/>
              <p:nvPr/>
            </p:nvSpPr>
            <p:spPr>
              <a:xfrm flipH="1">
                <a:off x="4456234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" name="Google Shape;207;p11"/>
              <p:cNvSpPr/>
              <p:nvPr/>
            </p:nvSpPr>
            <p:spPr>
              <a:xfrm flipH="1">
                <a:off x="4456234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8" name="Google Shape;208;p11"/>
            <p:cNvGrpSpPr/>
            <p:nvPr/>
          </p:nvGrpSpPr>
          <p:grpSpPr>
            <a:xfrm>
              <a:off x="4827588" y="4099200"/>
              <a:ext cx="231600" cy="1044300"/>
              <a:chOff x="4827588" y="4099200"/>
              <a:chExt cx="231600" cy="1044300"/>
            </a:xfrm>
          </p:grpSpPr>
          <p:sp>
            <p:nvSpPr>
              <p:cNvPr id="209" name="Google Shape;209;p11"/>
              <p:cNvSpPr/>
              <p:nvPr/>
            </p:nvSpPr>
            <p:spPr>
              <a:xfrm flipH="1">
                <a:off x="482758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p11"/>
              <p:cNvSpPr/>
              <p:nvPr/>
            </p:nvSpPr>
            <p:spPr>
              <a:xfrm flipH="1">
                <a:off x="482758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1" name="Google Shape;211;p11"/>
              <p:cNvSpPr/>
              <p:nvPr/>
            </p:nvSpPr>
            <p:spPr>
              <a:xfrm flipH="1">
                <a:off x="482758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2" name="Google Shape;212;p11"/>
              <p:cNvSpPr/>
              <p:nvPr/>
            </p:nvSpPr>
            <p:spPr>
              <a:xfrm flipH="1">
                <a:off x="4827588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3" name="Google Shape;213;p11"/>
              <p:cNvSpPr/>
              <p:nvPr/>
            </p:nvSpPr>
            <p:spPr>
              <a:xfrm flipH="1">
                <a:off x="482758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4" name="Google Shape;214;p11"/>
            <p:cNvGrpSpPr/>
            <p:nvPr/>
          </p:nvGrpSpPr>
          <p:grpSpPr>
            <a:xfrm>
              <a:off x="5198943" y="4309200"/>
              <a:ext cx="231600" cy="834300"/>
              <a:chOff x="5198943" y="4309200"/>
              <a:chExt cx="231600" cy="834300"/>
            </a:xfrm>
          </p:grpSpPr>
          <p:sp>
            <p:nvSpPr>
              <p:cNvPr id="215" name="Google Shape;215;p11"/>
              <p:cNvSpPr/>
              <p:nvPr/>
            </p:nvSpPr>
            <p:spPr>
              <a:xfrm flipH="1">
                <a:off x="519894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" name="Google Shape;216;p11"/>
              <p:cNvSpPr/>
              <p:nvPr/>
            </p:nvSpPr>
            <p:spPr>
              <a:xfrm flipH="1">
                <a:off x="5198943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" name="Google Shape;217;p11"/>
              <p:cNvSpPr/>
              <p:nvPr/>
            </p:nvSpPr>
            <p:spPr>
              <a:xfrm flipH="1">
                <a:off x="519894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" name="Google Shape;218;p11"/>
              <p:cNvSpPr/>
              <p:nvPr/>
            </p:nvSpPr>
            <p:spPr>
              <a:xfrm flipH="1">
                <a:off x="519894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9" name="Google Shape;219;p11"/>
            <p:cNvGrpSpPr/>
            <p:nvPr/>
          </p:nvGrpSpPr>
          <p:grpSpPr>
            <a:xfrm>
              <a:off x="5570297" y="4518900"/>
              <a:ext cx="231600" cy="624600"/>
              <a:chOff x="5570297" y="4518900"/>
              <a:chExt cx="231600" cy="624600"/>
            </a:xfrm>
          </p:grpSpPr>
          <p:sp>
            <p:nvSpPr>
              <p:cNvPr id="220" name="Google Shape;220;p11"/>
              <p:cNvSpPr/>
              <p:nvPr/>
            </p:nvSpPr>
            <p:spPr>
              <a:xfrm flipH="1">
                <a:off x="5570297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" name="Google Shape;221;p11"/>
              <p:cNvSpPr/>
              <p:nvPr/>
            </p:nvSpPr>
            <p:spPr>
              <a:xfrm flipH="1">
                <a:off x="5570297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" name="Google Shape;222;p11"/>
              <p:cNvSpPr/>
              <p:nvPr/>
            </p:nvSpPr>
            <p:spPr>
              <a:xfrm flipH="1">
                <a:off x="5570297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3" name="Google Shape;223;p11"/>
            <p:cNvGrpSpPr/>
            <p:nvPr/>
          </p:nvGrpSpPr>
          <p:grpSpPr>
            <a:xfrm>
              <a:off x="5941652" y="4309200"/>
              <a:ext cx="231600" cy="834300"/>
              <a:chOff x="5941652" y="4309200"/>
              <a:chExt cx="231600" cy="834300"/>
            </a:xfrm>
          </p:grpSpPr>
          <p:sp>
            <p:nvSpPr>
              <p:cNvPr id="224" name="Google Shape;224;p11"/>
              <p:cNvSpPr/>
              <p:nvPr/>
            </p:nvSpPr>
            <p:spPr>
              <a:xfrm flipH="1">
                <a:off x="5941652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" name="Google Shape;225;p11"/>
              <p:cNvSpPr/>
              <p:nvPr/>
            </p:nvSpPr>
            <p:spPr>
              <a:xfrm flipH="1">
                <a:off x="5941652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" name="Google Shape;226;p11"/>
              <p:cNvSpPr/>
              <p:nvPr/>
            </p:nvSpPr>
            <p:spPr>
              <a:xfrm flipH="1">
                <a:off x="5941652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p11"/>
              <p:cNvSpPr/>
              <p:nvPr/>
            </p:nvSpPr>
            <p:spPr>
              <a:xfrm flipH="1">
                <a:off x="5941652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8" name="Google Shape;228;p11"/>
            <p:cNvGrpSpPr/>
            <p:nvPr/>
          </p:nvGrpSpPr>
          <p:grpSpPr>
            <a:xfrm>
              <a:off x="6313006" y="4099200"/>
              <a:ext cx="231600" cy="1044300"/>
              <a:chOff x="6313006" y="4099200"/>
              <a:chExt cx="231600" cy="1044300"/>
            </a:xfrm>
          </p:grpSpPr>
          <p:sp>
            <p:nvSpPr>
              <p:cNvPr id="229" name="Google Shape;229;p11"/>
              <p:cNvSpPr/>
              <p:nvPr/>
            </p:nvSpPr>
            <p:spPr>
              <a:xfrm flipH="1">
                <a:off x="6313006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0" name="Google Shape;230;p11"/>
              <p:cNvSpPr/>
              <p:nvPr/>
            </p:nvSpPr>
            <p:spPr>
              <a:xfrm flipH="1">
                <a:off x="6313006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1" name="Google Shape;231;p11"/>
              <p:cNvSpPr/>
              <p:nvPr/>
            </p:nvSpPr>
            <p:spPr>
              <a:xfrm flipH="1">
                <a:off x="6313006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2" name="Google Shape;232;p11"/>
              <p:cNvSpPr/>
              <p:nvPr/>
            </p:nvSpPr>
            <p:spPr>
              <a:xfrm flipH="1">
                <a:off x="6313006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" name="Google Shape;233;p11"/>
              <p:cNvSpPr/>
              <p:nvPr/>
            </p:nvSpPr>
            <p:spPr>
              <a:xfrm flipH="1">
                <a:off x="6313006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4" name="Google Shape;234;p11"/>
            <p:cNvGrpSpPr/>
            <p:nvPr/>
          </p:nvGrpSpPr>
          <p:grpSpPr>
            <a:xfrm>
              <a:off x="6684361" y="4309200"/>
              <a:ext cx="231600" cy="834300"/>
              <a:chOff x="6684361" y="4309200"/>
              <a:chExt cx="231600" cy="834300"/>
            </a:xfrm>
          </p:grpSpPr>
          <p:sp>
            <p:nvSpPr>
              <p:cNvPr id="235" name="Google Shape;235;p11"/>
              <p:cNvSpPr/>
              <p:nvPr/>
            </p:nvSpPr>
            <p:spPr>
              <a:xfrm flipH="1">
                <a:off x="6684361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" name="Google Shape;236;p11"/>
              <p:cNvSpPr/>
              <p:nvPr/>
            </p:nvSpPr>
            <p:spPr>
              <a:xfrm flipH="1">
                <a:off x="6684361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" name="Google Shape;237;p11"/>
              <p:cNvSpPr/>
              <p:nvPr/>
            </p:nvSpPr>
            <p:spPr>
              <a:xfrm flipH="1">
                <a:off x="6684361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" name="Google Shape;238;p11"/>
              <p:cNvSpPr/>
              <p:nvPr/>
            </p:nvSpPr>
            <p:spPr>
              <a:xfrm flipH="1">
                <a:off x="6684361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9" name="Google Shape;239;p11"/>
            <p:cNvGrpSpPr/>
            <p:nvPr/>
          </p:nvGrpSpPr>
          <p:grpSpPr>
            <a:xfrm>
              <a:off x="7055715" y="4518900"/>
              <a:ext cx="231600" cy="624600"/>
              <a:chOff x="7055715" y="4518900"/>
              <a:chExt cx="231600" cy="624600"/>
            </a:xfrm>
          </p:grpSpPr>
          <p:sp>
            <p:nvSpPr>
              <p:cNvPr id="240" name="Google Shape;240;p11"/>
              <p:cNvSpPr/>
              <p:nvPr/>
            </p:nvSpPr>
            <p:spPr>
              <a:xfrm flipH="1">
                <a:off x="7055715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" name="Google Shape;241;p11"/>
              <p:cNvSpPr/>
              <p:nvPr/>
            </p:nvSpPr>
            <p:spPr>
              <a:xfrm flipH="1">
                <a:off x="7055715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" name="Google Shape;242;p11"/>
              <p:cNvSpPr/>
              <p:nvPr/>
            </p:nvSpPr>
            <p:spPr>
              <a:xfrm flipH="1">
                <a:off x="7055715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3" name="Google Shape;243;p11"/>
            <p:cNvGrpSpPr/>
            <p:nvPr/>
          </p:nvGrpSpPr>
          <p:grpSpPr>
            <a:xfrm>
              <a:off x="7798424" y="4099200"/>
              <a:ext cx="231600" cy="1044300"/>
              <a:chOff x="7798424" y="4099200"/>
              <a:chExt cx="231600" cy="1044300"/>
            </a:xfrm>
          </p:grpSpPr>
          <p:sp>
            <p:nvSpPr>
              <p:cNvPr id="244" name="Google Shape;244;p11"/>
              <p:cNvSpPr/>
              <p:nvPr/>
            </p:nvSpPr>
            <p:spPr>
              <a:xfrm flipH="1">
                <a:off x="7798424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" name="Google Shape;245;p11"/>
              <p:cNvSpPr/>
              <p:nvPr/>
            </p:nvSpPr>
            <p:spPr>
              <a:xfrm flipH="1">
                <a:off x="7798424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" name="Google Shape;246;p11"/>
              <p:cNvSpPr/>
              <p:nvPr/>
            </p:nvSpPr>
            <p:spPr>
              <a:xfrm flipH="1">
                <a:off x="7798424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" name="Google Shape;247;p11"/>
              <p:cNvSpPr/>
              <p:nvPr/>
            </p:nvSpPr>
            <p:spPr>
              <a:xfrm flipH="1">
                <a:off x="7798424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" name="Google Shape;248;p11"/>
              <p:cNvSpPr/>
              <p:nvPr/>
            </p:nvSpPr>
            <p:spPr>
              <a:xfrm flipH="1">
                <a:off x="7798424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9" name="Google Shape;249;p11"/>
            <p:cNvGrpSpPr/>
            <p:nvPr/>
          </p:nvGrpSpPr>
          <p:grpSpPr>
            <a:xfrm>
              <a:off x="8169779" y="4309200"/>
              <a:ext cx="231600" cy="834300"/>
              <a:chOff x="8169779" y="4309200"/>
              <a:chExt cx="231600" cy="834300"/>
            </a:xfrm>
          </p:grpSpPr>
          <p:sp>
            <p:nvSpPr>
              <p:cNvPr id="250" name="Google Shape;250;p11"/>
              <p:cNvSpPr/>
              <p:nvPr/>
            </p:nvSpPr>
            <p:spPr>
              <a:xfrm flipH="1">
                <a:off x="8169779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" name="Google Shape;251;p11"/>
              <p:cNvSpPr/>
              <p:nvPr/>
            </p:nvSpPr>
            <p:spPr>
              <a:xfrm flipH="1">
                <a:off x="8169779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" name="Google Shape;252;p11"/>
              <p:cNvSpPr/>
              <p:nvPr/>
            </p:nvSpPr>
            <p:spPr>
              <a:xfrm flipH="1">
                <a:off x="8169779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" name="Google Shape;253;p11"/>
              <p:cNvSpPr/>
              <p:nvPr/>
            </p:nvSpPr>
            <p:spPr>
              <a:xfrm flipH="1">
                <a:off x="8169779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4" name="Google Shape;254;p11"/>
            <p:cNvGrpSpPr/>
            <p:nvPr/>
          </p:nvGrpSpPr>
          <p:grpSpPr>
            <a:xfrm>
              <a:off x="7427070" y="4309200"/>
              <a:ext cx="231600" cy="834300"/>
              <a:chOff x="7427070" y="4309200"/>
              <a:chExt cx="231600" cy="834300"/>
            </a:xfrm>
          </p:grpSpPr>
          <p:sp>
            <p:nvSpPr>
              <p:cNvPr id="255" name="Google Shape;255;p11"/>
              <p:cNvSpPr/>
              <p:nvPr/>
            </p:nvSpPr>
            <p:spPr>
              <a:xfrm flipH="1">
                <a:off x="7427070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" name="Google Shape;256;p11"/>
              <p:cNvSpPr/>
              <p:nvPr/>
            </p:nvSpPr>
            <p:spPr>
              <a:xfrm flipH="1">
                <a:off x="7427070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" name="Google Shape;257;p11"/>
              <p:cNvSpPr/>
              <p:nvPr/>
            </p:nvSpPr>
            <p:spPr>
              <a:xfrm flipH="1">
                <a:off x="7427070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" name="Google Shape;258;p11"/>
              <p:cNvSpPr/>
              <p:nvPr/>
            </p:nvSpPr>
            <p:spPr>
              <a:xfrm flipH="1">
                <a:off x="7427070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9" name="Google Shape;259;p11"/>
            <p:cNvGrpSpPr/>
            <p:nvPr/>
          </p:nvGrpSpPr>
          <p:grpSpPr>
            <a:xfrm>
              <a:off x="8541133" y="4518900"/>
              <a:ext cx="231600" cy="624600"/>
              <a:chOff x="8541133" y="4518900"/>
              <a:chExt cx="231600" cy="624600"/>
            </a:xfrm>
          </p:grpSpPr>
          <p:sp>
            <p:nvSpPr>
              <p:cNvPr id="260" name="Google Shape;260;p11"/>
              <p:cNvSpPr/>
              <p:nvPr/>
            </p:nvSpPr>
            <p:spPr>
              <a:xfrm flipH="1">
                <a:off x="854113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" name="Google Shape;261;p11"/>
              <p:cNvSpPr/>
              <p:nvPr/>
            </p:nvSpPr>
            <p:spPr>
              <a:xfrm flipH="1">
                <a:off x="854113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" name="Google Shape;262;p11"/>
              <p:cNvSpPr/>
              <p:nvPr/>
            </p:nvSpPr>
            <p:spPr>
              <a:xfrm flipH="1">
                <a:off x="854113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63" name="Google Shape;263;p11"/>
            <p:cNvGrpSpPr/>
            <p:nvPr/>
          </p:nvGrpSpPr>
          <p:grpSpPr>
            <a:xfrm>
              <a:off x="8912488" y="4309200"/>
              <a:ext cx="231600" cy="834300"/>
              <a:chOff x="8912488" y="4309200"/>
              <a:chExt cx="231600" cy="834300"/>
            </a:xfrm>
          </p:grpSpPr>
          <p:sp>
            <p:nvSpPr>
              <p:cNvPr id="264" name="Google Shape;264;p11"/>
              <p:cNvSpPr/>
              <p:nvPr/>
            </p:nvSpPr>
            <p:spPr>
              <a:xfrm flipH="1">
                <a:off x="891248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" name="Google Shape;265;p11"/>
              <p:cNvSpPr/>
              <p:nvPr/>
            </p:nvSpPr>
            <p:spPr>
              <a:xfrm flipH="1">
                <a:off x="891248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" name="Google Shape;266;p11"/>
              <p:cNvSpPr/>
              <p:nvPr/>
            </p:nvSpPr>
            <p:spPr>
              <a:xfrm flipH="1">
                <a:off x="891248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7" name="Google Shape;267;p11"/>
              <p:cNvSpPr/>
              <p:nvPr/>
            </p:nvSpPr>
            <p:spPr>
              <a:xfrm flipH="1">
                <a:off x="891248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68" name="Google Shape;268;p11"/>
          <p:cNvSpPr txBox="1"/>
          <p:nvPr>
            <p:ph hasCustomPrompt="1" type="title"/>
          </p:nvPr>
        </p:nvSpPr>
        <p:spPr>
          <a:xfrm>
            <a:off x="1388625" y="772725"/>
            <a:ext cx="6366900" cy="186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9" name="Google Shape;269;p11"/>
          <p:cNvSpPr txBox="1"/>
          <p:nvPr>
            <p:ph idx="1" type="body"/>
          </p:nvPr>
        </p:nvSpPr>
        <p:spPr>
          <a:xfrm>
            <a:off x="1388625" y="2712300"/>
            <a:ext cx="6366900" cy="11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0" name="Google Shape;270;p11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2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omentum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●"/>
              <a:defRPr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0.png"/><Relationship Id="rId6" Type="http://schemas.openxmlformats.org/officeDocument/2006/relationships/image" Target="../media/image6.png"/><Relationship Id="rId7" Type="http://schemas.openxmlformats.org/officeDocument/2006/relationships/image" Target="../media/image9.png"/><Relationship Id="rId8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3"/>
          <p:cNvSpPr txBox="1"/>
          <p:nvPr>
            <p:ph type="ctrTitle"/>
          </p:nvPr>
        </p:nvSpPr>
        <p:spPr>
          <a:xfrm>
            <a:off x="390525" y="1084250"/>
            <a:ext cx="7544100" cy="1537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Machine Learning:</a:t>
            </a:r>
            <a:br>
              <a:rPr b="1" lang="es"/>
            </a:br>
            <a:r>
              <a:rPr b="1" lang="es"/>
              <a:t>Caso Telco Customer Churn.</a:t>
            </a:r>
            <a:endParaRPr b="1"/>
          </a:p>
        </p:txBody>
      </p:sp>
      <p:sp>
        <p:nvSpPr>
          <p:cNvPr id="278" name="Google Shape;278;p13"/>
          <p:cNvSpPr txBox="1"/>
          <p:nvPr>
            <p:ph idx="1" type="subTitle"/>
          </p:nvPr>
        </p:nvSpPr>
        <p:spPr>
          <a:xfrm>
            <a:off x="390525" y="3207600"/>
            <a:ext cx="8222100" cy="16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846"/>
              <a:t>Integrantes:</a:t>
            </a:r>
            <a:endParaRPr b="1" sz="2846"/>
          </a:p>
          <a:p>
            <a:pPr indent="-32798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s" sz="2846"/>
              <a:t>David </a:t>
            </a:r>
            <a:r>
              <a:rPr lang="es" sz="2846"/>
              <a:t>Ramírez</a:t>
            </a:r>
            <a:r>
              <a:rPr lang="es" sz="2846"/>
              <a:t>.</a:t>
            </a:r>
            <a:endParaRPr sz="2846"/>
          </a:p>
          <a:p>
            <a:pPr indent="-32798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s" sz="2846"/>
              <a:t>Octavio Chavez.</a:t>
            </a:r>
            <a:endParaRPr sz="2846"/>
          </a:p>
          <a:p>
            <a:pPr indent="-32798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s" sz="2846"/>
              <a:t>Felipe Huincaman.</a:t>
            </a:r>
            <a:endParaRPr sz="2846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46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846"/>
              <a:t>Docente:</a:t>
            </a:r>
            <a:r>
              <a:rPr lang="es" sz="2846"/>
              <a:t> Jazna Meza Hidalgo</a:t>
            </a:r>
            <a:endParaRPr sz="2846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2846"/>
              <a:t>Secci</a:t>
            </a:r>
            <a:r>
              <a:rPr b="1" lang="es" sz="2846"/>
              <a:t>ón: </a:t>
            </a:r>
            <a:r>
              <a:rPr lang="es" sz="2846"/>
              <a:t>	001D</a:t>
            </a:r>
            <a:endParaRPr sz="2846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79" name="Google Shape;27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14650" y="205400"/>
            <a:ext cx="2997976" cy="1098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4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Problema del negocio</a:t>
            </a:r>
            <a:endParaRPr/>
          </a:p>
        </p:txBody>
      </p:sp>
      <p:sp>
        <p:nvSpPr>
          <p:cNvPr id="285" name="Google Shape;285;p14"/>
          <p:cNvSpPr txBox="1"/>
          <p:nvPr>
            <p:ph idx="1" type="body"/>
          </p:nvPr>
        </p:nvSpPr>
        <p:spPr>
          <a:xfrm>
            <a:off x="130380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Problema:</a:t>
            </a:r>
            <a:r>
              <a:rPr lang="es"/>
              <a:t> Captar un cliente cuesta 5 veces m</a:t>
            </a:r>
            <a:r>
              <a:rPr lang="es"/>
              <a:t>ás que retenerlo; la fuga descontrolada erosiona el margen.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"/>
              <a:t>Solución y objetivos:</a:t>
            </a:r>
            <a:r>
              <a:rPr lang="es"/>
              <a:t> Modelos de ML para segmentar usuarios, anticipar abandono y predecir su permanencia (tenure), optimizando el gasto de retención con resguardo ético y normativo. </a:t>
            </a:r>
            <a:endParaRPr/>
          </a:p>
        </p:txBody>
      </p:sp>
      <p:sp>
        <p:nvSpPr>
          <p:cNvPr id="286" name="Google Shape;286;p14"/>
          <p:cNvSpPr txBox="1"/>
          <p:nvPr>
            <p:ph idx="2" type="body"/>
          </p:nvPr>
        </p:nvSpPr>
        <p:spPr>
          <a:xfrm>
            <a:off x="490365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KPIs de impacto:</a:t>
            </a:r>
            <a:endParaRPr b="1"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b="1" lang="es"/>
              <a:t>Retenci</a:t>
            </a:r>
            <a:r>
              <a:rPr b="1" lang="es"/>
              <a:t>ón Predictiva: </a:t>
            </a:r>
            <a:r>
              <a:rPr lang="es"/>
              <a:t>% de rescates exitoso.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b="1" lang="es"/>
              <a:t>Ingresos Recuperados: </a:t>
            </a:r>
            <a:r>
              <a:rPr lang="es"/>
              <a:t>Cuota X Tenure predicho.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b="1" lang="es"/>
              <a:t>ROI de Retención: </a:t>
            </a:r>
            <a:r>
              <a:rPr lang="es"/>
              <a:t>Eficiencia financiera del gasto.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b="1" lang="es"/>
              <a:t>Fuga por Clúster: </a:t>
            </a:r>
            <a:r>
              <a:rPr lang="es"/>
              <a:t>Riesgo por segmento.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5"/>
          <p:cNvSpPr txBox="1"/>
          <p:nvPr>
            <p:ph type="title"/>
          </p:nvPr>
        </p:nvSpPr>
        <p:spPr>
          <a:xfrm>
            <a:off x="1260000" y="517900"/>
            <a:ext cx="3312000" cy="15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An</a:t>
            </a:r>
            <a:r>
              <a:rPr lang="es"/>
              <a:t>álisis Exploratorio de Datos (EDA)</a:t>
            </a:r>
            <a:endParaRPr/>
          </a:p>
        </p:txBody>
      </p:sp>
      <p:sp>
        <p:nvSpPr>
          <p:cNvPr id="292" name="Google Shape;292;p15"/>
          <p:cNvSpPr txBox="1"/>
          <p:nvPr>
            <p:ph idx="1" type="body"/>
          </p:nvPr>
        </p:nvSpPr>
        <p:spPr>
          <a:xfrm>
            <a:off x="4443800" y="1289525"/>
            <a:ext cx="4402200" cy="36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325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3664">
                <a:solidFill>
                  <a:schemeClr val="accent1"/>
                </a:solidFill>
              </a:rPr>
              <a:t>Revisión y calidad de los datos:</a:t>
            </a:r>
            <a:endParaRPr b="1" sz="3664">
              <a:solidFill>
                <a:schemeClr val="accent1"/>
              </a:solidFill>
            </a:endParaRPr>
          </a:p>
          <a:p>
            <a:pPr indent="-304222" lvl="0" marL="457200" rtl="0" algn="l"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100000"/>
              <a:buChar char="-"/>
            </a:pPr>
            <a:r>
              <a:rPr lang="es" sz="3664">
                <a:solidFill>
                  <a:schemeClr val="accent1"/>
                </a:solidFill>
              </a:rPr>
              <a:t>Este Dataset contiene </a:t>
            </a:r>
            <a:r>
              <a:rPr b="1" lang="es" sz="3664">
                <a:solidFill>
                  <a:schemeClr val="accent1"/>
                </a:solidFill>
              </a:rPr>
              <a:t>7.043 Registros </a:t>
            </a:r>
            <a:r>
              <a:rPr lang="es" sz="3664">
                <a:solidFill>
                  <a:schemeClr val="accent1"/>
                </a:solidFill>
              </a:rPr>
              <a:t>totales y </a:t>
            </a:r>
            <a:r>
              <a:rPr b="1" lang="es" sz="3664">
                <a:solidFill>
                  <a:schemeClr val="accent1"/>
                </a:solidFill>
              </a:rPr>
              <a:t>21 Columnas.</a:t>
            </a:r>
            <a:endParaRPr b="1" sz="3664">
              <a:solidFill>
                <a:schemeClr val="accent1"/>
              </a:solidFill>
            </a:endParaRPr>
          </a:p>
          <a:p>
            <a:pPr indent="-304222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Char char="-"/>
            </a:pPr>
            <a:r>
              <a:rPr b="1" lang="es" sz="3664">
                <a:solidFill>
                  <a:schemeClr val="accent1"/>
                </a:solidFill>
              </a:rPr>
              <a:t>Anonimización: </a:t>
            </a:r>
            <a:r>
              <a:rPr lang="es" sz="3664">
                <a:solidFill>
                  <a:schemeClr val="accent1"/>
                </a:solidFill>
              </a:rPr>
              <a:t>Hash</a:t>
            </a:r>
            <a:r>
              <a:rPr b="1" lang="es" sz="3664">
                <a:solidFill>
                  <a:schemeClr val="accent1"/>
                </a:solidFill>
              </a:rPr>
              <a:t> SHA-256</a:t>
            </a:r>
            <a:r>
              <a:rPr lang="es" sz="3664">
                <a:solidFill>
                  <a:schemeClr val="accent1"/>
                </a:solidFill>
              </a:rPr>
              <a:t> a la identificación de cada cliente (</a:t>
            </a:r>
            <a:r>
              <a:rPr b="1" i="1" lang="es" sz="3664">
                <a:solidFill>
                  <a:schemeClr val="accent1"/>
                </a:solidFill>
              </a:rPr>
              <a:t>CustomerID</a:t>
            </a:r>
            <a:r>
              <a:rPr lang="es" sz="3664">
                <a:solidFill>
                  <a:schemeClr val="accent1"/>
                </a:solidFill>
              </a:rPr>
              <a:t>) para proteger la privacidad de los usuarios desde el principio.</a:t>
            </a:r>
            <a:endParaRPr sz="3664">
              <a:solidFill>
                <a:schemeClr val="accent1"/>
              </a:solidFill>
            </a:endParaRPr>
          </a:p>
          <a:p>
            <a:pPr indent="-304222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Char char="-"/>
            </a:pPr>
            <a:r>
              <a:rPr b="1" lang="es" sz="3664">
                <a:solidFill>
                  <a:schemeClr val="accent1"/>
                </a:solidFill>
              </a:rPr>
              <a:t>Completitud e Imputación: </a:t>
            </a:r>
            <a:r>
              <a:rPr lang="es" sz="3664">
                <a:solidFill>
                  <a:schemeClr val="accent1"/>
                </a:solidFill>
              </a:rPr>
              <a:t>Datos limpios; solo se imputaron con cero 11 nulos en cargos totales, correspondientes a clientes con antigüedad cero.</a:t>
            </a:r>
            <a:endParaRPr sz="3664">
              <a:solidFill>
                <a:schemeClr val="accent1"/>
              </a:solidFill>
            </a:endParaRPr>
          </a:p>
          <a:p>
            <a:pPr indent="-304222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Char char="-"/>
            </a:pPr>
            <a:r>
              <a:rPr b="1" lang="es" sz="3664">
                <a:solidFill>
                  <a:schemeClr val="accent1"/>
                </a:solidFill>
              </a:rPr>
              <a:t>Duplicidad: </a:t>
            </a:r>
            <a:r>
              <a:rPr lang="es" sz="3664">
                <a:solidFill>
                  <a:schemeClr val="accent1"/>
                </a:solidFill>
              </a:rPr>
              <a:t>No se detectaron registros duplicados.</a:t>
            </a:r>
            <a:endParaRPr sz="3664">
              <a:solidFill>
                <a:schemeClr val="accent1"/>
              </a:solidFill>
            </a:endParaRPr>
          </a:p>
          <a:p>
            <a:pPr indent="-304222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Char char="-"/>
            </a:pPr>
            <a:r>
              <a:rPr b="1" lang="es" sz="3664">
                <a:solidFill>
                  <a:schemeClr val="accent1"/>
                </a:solidFill>
              </a:rPr>
              <a:t>Outliers:</a:t>
            </a:r>
            <a:r>
              <a:rPr lang="es" sz="3664">
                <a:solidFill>
                  <a:schemeClr val="accent1"/>
                </a:solidFill>
              </a:rPr>
              <a:t> La prueba </a:t>
            </a:r>
            <a:r>
              <a:rPr b="1" lang="es" sz="3664">
                <a:solidFill>
                  <a:schemeClr val="accent1"/>
                </a:solidFill>
              </a:rPr>
              <a:t>IQR</a:t>
            </a:r>
            <a:r>
              <a:rPr lang="es" sz="3664">
                <a:solidFill>
                  <a:schemeClr val="accent1"/>
                </a:solidFill>
              </a:rPr>
              <a:t> confirmó la ausencia de valores atípicos en antigüedad y cargos.</a:t>
            </a:r>
            <a:endParaRPr sz="3664">
              <a:solidFill>
                <a:schemeClr val="accent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solidFill>
                <a:schemeClr val="lt2"/>
              </a:solidFill>
            </a:endParaRPr>
          </a:p>
        </p:txBody>
      </p:sp>
      <p:sp>
        <p:nvSpPr>
          <p:cNvPr id="293" name="Google Shape;293;p15"/>
          <p:cNvSpPr txBox="1"/>
          <p:nvPr>
            <p:ph idx="1" type="body"/>
          </p:nvPr>
        </p:nvSpPr>
        <p:spPr>
          <a:xfrm>
            <a:off x="589150" y="2300950"/>
            <a:ext cx="3459900" cy="237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400"/>
              <a:t>Dataset: </a:t>
            </a:r>
            <a:r>
              <a:rPr i="1" lang="es" sz="1400"/>
              <a:t>telco_customer_churn.csv</a:t>
            </a:r>
            <a:endParaRPr i="1"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400"/>
              <a:t>Variable Objetivo:</a:t>
            </a:r>
            <a:r>
              <a:rPr lang="es" sz="1400"/>
              <a:t> Churn (Indica si el cliente abandona o no el servicio)</a:t>
            </a:r>
            <a:endParaRPr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400"/>
              <a:t>Variables eliminadas:</a:t>
            </a:r>
            <a:endParaRPr b="1" sz="1400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Char char="-"/>
            </a:pPr>
            <a:r>
              <a:rPr i="1" lang="es" sz="1400"/>
              <a:t>CustomerID</a:t>
            </a:r>
            <a:endParaRPr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6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Preparaci</a:t>
            </a:r>
            <a:r>
              <a:rPr lang="es"/>
              <a:t>ón y transformación de los datos </a:t>
            </a:r>
            <a:endParaRPr/>
          </a:p>
        </p:txBody>
      </p:sp>
      <p:sp>
        <p:nvSpPr>
          <p:cNvPr id="299" name="Google Shape;299;p16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Pipelines de transformaci</a:t>
            </a:r>
            <a:r>
              <a:rPr b="1" lang="es"/>
              <a:t>ón:</a:t>
            </a:r>
            <a:endParaRPr b="1"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-"/>
            </a:pPr>
            <a:r>
              <a:rPr b="1" lang="es"/>
              <a:t>Estandarización automática: </a:t>
            </a:r>
            <a:r>
              <a:rPr lang="es"/>
              <a:t>Convierte textos a números según su orden lógico y completa </a:t>
            </a:r>
            <a:r>
              <a:rPr lang="es"/>
              <a:t>vacíos</a:t>
            </a:r>
            <a:r>
              <a:rPr lang="es"/>
              <a:t> de forma automática. 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b="1" lang="es"/>
              <a:t>Sin fuga de datos: </a:t>
            </a:r>
            <a:r>
              <a:rPr lang="es"/>
              <a:t>Garantiza un flujo transparente que evita que el modelo use información futura durante su entrenamiento. 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7"/>
          <p:cNvSpPr txBox="1"/>
          <p:nvPr>
            <p:ph type="title"/>
          </p:nvPr>
        </p:nvSpPr>
        <p:spPr>
          <a:xfrm>
            <a:off x="460950" y="244400"/>
            <a:ext cx="8222100" cy="7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REGRESIÓN</a:t>
            </a:r>
            <a:endParaRPr/>
          </a:p>
        </p:txBody>
      </p:sp>
      <p:sp>
        <p:nvSpPr>
          <p:cNvPr id="305" name="Google Shape;305;p17"/>
          <p:cNvSpPr txBox="1"/>
          <p:nvPr>
            <p:ph idx="1" type="body"/>
          </p:nvPr>
        </p:nvSpPr>
        <p:spPr>
          <a:xfrm>
            <a:off x="77100" y="1812863"/>
            <a:ext cx="2023200" cy="15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/>
              <a:t>REGRESIÓN LINEAL:</a:t>
            </a:r>
            <a:endParaRPr b="1" sz="1200"/>
          </a:p>
          <a:p>
            <a:pPr indent="-299085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s" sz="1200"/>
              <a:t>R2 (Coeficiente de determinación): 87,6%</a:t>
            </a:r>
            <a:endParaRPr sz="1200"/>
          </a:p>
          <a:p>
            <a:pPr indent="-29908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 sz="1200"/>
              <a:t> </a:t>
            </a:r>
            <a:r>
              <a:rPr lang="es" sz="1200"/>
              <a:t>MAE (Error Absoluto Medio): 6,7</a:t>
            </a:r>
            <a:endParaRPr sz="1200"/>
          </a:p>
        </p:txBody>
      </p:sp>
      <p:sp>
        <p:nvSpPr>
          <p:cNvPr id="306" name="Google Shape;306;p17"/>
          <p:cNvSpPr txBox="1"/>
          <p:nvPr>
            <p:ph idx="1" type="body"/>
          </p:nvPr>
        </p:nvSpPr>
        <p:spPr>
          <a:xfrm>
            <a:off x="2100300" y="1812863"/>
            <a:ext cx="2023200" cy="154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/>
              <a:t>ÁRBOL DE DECISIÓN:</a:t>
            </a:r>
            <a:endParaRPr b="1" sz="1200"/>
          </a:p>
          <a:p>
            <a:pPr indent="-299085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s" sz="1200"/>
              <a:t>R2 (Coeficiente de determinación): 92,6%</a:t>
            </a:r>
            <a:endParaRPr sz="1200"/>
          </a:p>
          <a:p>
            <a:pPr indent="-29908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 sz="1200"/>
              <a:t>MAE (Error Absoluto Medio): 4,7</a:t>
            </a:r>
            <a:endParaRPr sz="1200"/>
          </a:p>
        </p:txBody>
      </p:sp>
      <p:sp>
        <p:nvSpPr>
          <p:cNvPr id="307" name="Google Shape;307;p17"/>
          <p:cNvSpPr txBox="1"/>
          <p:nvPr>
            <p:ph idx="1" type="body"/>
          </p:nvPr>
        </p:nvSpPr>
        <p:spPr>
          <a:xfrm>
            <a:off x="77100" y="3250700"/>
            <a:ext cx="4123500" cy="164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/>
              <a:t>CONCLU</a:t>
            </a:r>
            <a:r>
              <a:rPr b="1" lang="es" sz="1200"/>
              <a:t>SIÓN:</a:t>
            </a:r>
            <a:endParaRPr b="1" sz="1200"/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es" sz="1200"/>
              <a:t>Árbol de Decisión es el modelo más confiable al registrar el MAE más bajo. </a:t>
            </a:r>
            <a:endParaRPr sz="1200"/>
          </a:p>
        </p:txBody>
      </p:sp>
      <p:sp>
        <p:nvSpPr>
          <p:cNvPr id="308" name="Google Shape;308;p17"/>
          <p:cNvSpPr txBox="1"/>
          <p:nvPr>
            <p:ph idx="1" type="body"/>
          </p:nvPr>
        </p:nvSpPr>
        <p:spPr>
          <a:xfrm>
            <a:off x="1321575" y="1012088"/>
            <a:ext cx="5156100" cy="47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es" sz="1200">
                <a:solidFill>
                  <a:srgbClr val="374151"/>
                </a:solidFill>
              </a:rPr>
              <a:t>CONTEXTO: </a:t>
            </a:r>
            <a:r>
              <a:rPr lang="es" sz="1200">
                <a:solidFill>
                  <a:srgbClr val="374151"/>
                </a:solidFill>
              </a:rPr>
              <a:t>Variable objetivo tenure (permanencia).</a:t>
            </a:r>
            <a:endParaRPr sz="1200">
              <a:solidFill>
                <a:srgbClr val="374151"/>
              </a:solidFill>
            </a:endParaRPr>
          </a:p>
        </p:txBody>
      </p:sp>
      <p:pic>
        <p:nvPicPr>
          <p:cNvPr id="309" name="Google Shape;30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0" y="1557550"/>
            <a:ext cx="4123501" cy="3260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8"/>
          <p:cNvSpPr txBox="1"/>
          <p:nvPr>
            <p:ph type="title"/>
          </p:nvPr>
        </p:nvSpPr>
        <p:spPr>
          <a:xfrm>
            <a:off x="1303800" y="598575"/>
            <a:ext cx="3312000" cy="15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CLASIFICACIÓN</a:t>
            </a:r>
            <a:endParaRPr/>
          </a:p>
        </p:txBody>
      </p:sp>
      <p:pic>
        <p:nvPicPr>
          <p:cNvPr id="315" name="Google Shape;31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2725" y="1461050"/>
            <a:ext cx="2127192" cy="165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47888" y="1461050"/>
            <a:ext cx="2127165" cy="165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09900" y="3169700"/>
            <a:ext cx="1956700" cy="169098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1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710563" y="3188638"/>
            <a:ext cx="1956700" cy="165308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1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655038" y="3188638"/>
            <a:ext cx="1912867" cy="165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18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625313" y="1461050"/>
            <a:ext cx="2127199" cy="1653106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18"/>
          <p:cNvSpPr txBox="1"/>
          <p:nvPr>
            <p:ph idx="1" type="body"/>
          </p:nvPr>
        </p:nvSpPr>
        <p:spPr>
          <a:xfrm>
            <a:off x="4354325" y="790450"/>
            <a:ext cx="4416900" cy="82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es" sz="1200"/>
              <a:t>CONTEXTO: </a:t>
            </a:r>
            <a:r>
              <a:rPr lang="es" sz="1200"/>
              <a:t>Variable objetivo Churn (abandono).</a:t>
            </a:r>
            <a:endParaRPr sz="1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9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CLASIFICACIÓN</a:t>
            </a:r>
            <a:endParaRPr/>
          </a:p>
        </p:txBody>
      </p:sp>
      <p:sp>
        <p:nvSpPr>
          <p:cNvPr id="327" name="Google Shape;327;p19"/>
          <p:cNvSpPr txBox="1"/>
          <p:nvPr>
            <p:ph idx="1" type="body"/>
          </p:nvPr>
        </p:nvSpPr>
        <p:spPr>
          <a:xfrm>
            <a:off x="432150" y="3661350"/>
            <a:ext cx="8427300" cy="111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/>
              <a:t>CONCLUSIÓN:</a:t>
            </a:r>
            <a:endParaRPr b="1" sz="1200"/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es" sz="1200"/>
              <a:t>Árbol de Decisión es el modelo más confiable al registrar el Recall más alto de los 3 modelos.</a:t>
            </a:r>
            <a:endParaRPr sz="1200"/>
          </a:p>
        </p:txBody>
      </p:sp>
      <p:graphicFrame>
        <p:nvGraphicFramePr>
          <p:cNvPr id="328" name="Google Shape;328;p19"/>
          <p:cNvGraphicFramePr/>
          <p:nvPr/>
        </p:nvGraphicFramePr>
        <p:xfrm>
          <a:off x="493825" y="17037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{53722BFE-1788-4BD6-A9B6-8FC50C1D2A24}</a:tableStyleId>
              </a:tblPr>
              <a:tblGrid>
                <a:gridCol w="1539475"/>
                <a:gridCol w="1021025"/>
                <a:gridCol w="937225"/>
                <a:gridCol w="751775"/>
                <a:gridCol w="836550"/>
                <a:gridCol w="1428150"/>
                <a:gridCol w="1359675"/>
                <a:gridCol w="646975"/>
              </a:tblGrid>
              <a:tr h="372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" sz="1200" u="none" cap="none" strike="noStrike">
                          <a:solidFill>
                            <a:srgbClr val="37415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Modelo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" sz="1200" u="none" cap="none" strike="noStrike">
                          <a:solidFill>
                            <a:srgbClr val="37415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Exactitud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" sz="1200" u="none" cap="none" strike="noStrike">
                          <a:solidFill>
                            <a:srgbClr val="37415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Precisión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" sz="1200" u="none" cap="none" strike="noStrike">
                          <a:solidFill>
                            <a:srgbClr val="37415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Recall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" sz="1200" u="none" cap="none" strike="noStrike">
                          <a:solidFill>
                            <a:srgbClr val="37415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F1-Score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" sz="1200" u="none" cap="none" strike="noStrike">
                          <a:solidFill>
                            <a:srgbClr val="37415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Falsos Negativos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" sz="1200" u="none" cap="none" strike="noStrike">
                          <a:solidFill>
                            <a:srgbClr val="37415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Falsos Positivos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" sz="1200" u="none" cap="none" strike="noStrike">
                          <a:solidFill>
                            <a:srgbClr val="37415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AUC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4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" sz="1200" u="none" cap="none" strike="noStrike">
                          <a:solidFill>
                            <a:srgbClr val="1F293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Regresión Logística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" sz="1200" u="none" cap="none" strike="noStrike">
                          <a:solidFill>
                            <a:srgbClr val="1F293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72.2%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" sz="1200" u="none" cap="none" strike="noStrike">
                          <a:solidFill>
                            <a:srgbClr val="1F293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0.486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" sz="1200" u="none" cap="none" strike="noStrike">
                          <a:solidFill>
                            <a:srgbClr val="1F293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0.791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" sz="1200" u="none" cap="none" strike="noStrike">
                          <a:solidFill>
                            <a:srgbClr val="1F293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0.602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" sz="1200" u="none" cap="none" strike="noStrike">
                          <a:solidFill>
                            <a:srgbClr val="1F293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78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" sz="1200" u="none" cap="none" strike="noStrike">
                          <a:solidFill>
                            <a:srgbClr val="1F293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313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" sz="1200" u="none" cap="none" strike="noStrike">
                          <a:solidFill>
                            <a:srgbClr val="1F293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0.831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4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" sz="1200" u="none" cap="none" strike="noStrike">
                          <a:solidFill>
                            <a:srgbClr val="1F293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SVM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" sz="1200" u="none" cap="none" strike="noStrike">
                          <a:solidFill>
                            <a:srgbClr val="1F293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73.4%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" sz="1200" u="none" cap="none" strike="noStrike">
                          <a:solidFill>
                            <a:srgbClr val="1F293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0.499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" sz="1200" u="none" cap="none" strike="noStrike">
                          <a:solidFill>
                            <a:srgbClr val="1F293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0.767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" sz="1200" u="none" cap="none" strike="noStrike">
                          <a:solidFill>
                            <a:srgbClr val="1F293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0.605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" sz="1200" u="none" cap="none" strike="noStrike">
                          <a:solidFill>
                            <a:srgbClr val="1F293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87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" sz="1200" u="none" cap="none" strike="noStrike">
                          <a:solidFill>
                            <a:srgbClr val="1F293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288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" sz="1200" u="none" cap="none" strike="noStrike">
                          <a:solidFill>
                            <a:srgbClr val="1F293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0.813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54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" sz="1200" u="none" cap="none" strike="noStrike">
                          <a:solidFill>
                            <a:srgbClr val="1F293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Árbol de Decisión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" sz="1200" u="none" cap="none" strike="noStrike">
                          <a:solidFill>
                            <a:srgbClr val="1F293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71.3%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" sz="1200" u="none" cap="none" strike="noStrike">
                          <a:solidFill>
                            <a:srgbClr val="1F293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0.476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" sz="1200" u="none" cap="none" strike="noStrike">
                          <a:solidFill>
                            <a:srgbClr val="05966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0.824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" sz="1200" u="none" cap="none" strike="noStrike">
                          <a:solidFill>
                            <a:srgbClr val="1F293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0.603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s" sz="1200" u="none" cap="none" strike="noStrike">
                          <a:solidFill>
                            <a:srgbClr val="05966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66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" sz="1200" u="none" cap="none" strike="noStrike">
                          <a:solidFill>
                            <a:srgbClr val="1F293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339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s" sz="1200" u="none" cap="none" strike="noStrike">
                          <a:solidFill>
                            <a:srgbClr val="1F2937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0.827</a:t>
                      </a:r>
                      <a:endParaRPr sz="1200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20"/>
          <p:cNvSpPr txBox="1"/>
          <p:nvPr>
            <p:ph type="title"/>
          </p:nvPr>
        </p:nvSpPr>
        <p:spPr>
          <a:xfrm>
            <a:off x="1348375" y="595075"/>
            <a:ext cx="7380300" cy="7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SEGMENTACIÓN</a:t>
            </a:r>
            <a:endParaRPr/>
          </a:p>
        </p:txBody>
      </p:sp>
      <p:sp>
        <p:nvSpPr>
          <p:cNvPr id="334" name="Google Shape;334;p20"/>
          <p:cNvSpPr txBox="1"/>
          <p:nvPr>
            <p:ph idx="1" type="body"/>
          </p:nvPr>
        </p:nvSpPr>
        <p:spPr>
          <a:xfrm>
            <a:off x="429225" y="2455000"/>
            <a:ext cx="4123500" cy="169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200"/>
              <a:t>ANTECEDENTES</a:t>
            </a:r>
            <a:r>
              <a:rPr b="1" lang="es" sz="1200"/>
              <a:t>:</a:t>
            </a:r>
            <a:endParaRPr b="1" sz="1200"/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es" sz="1200"/>
              <a:t>KNeed, k-</a:t>
            </a:r>
            <a:r>
              <a:rPr lang="es" sz="1200"/>
              <a:t>óptimo=3.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" sz="1200"/>
              <a:t>Descarte Churn y ID.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" sz="1200"/>
              <a:t>Inercia = 3725.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" sz="1200"/>
              <a:t>Silhouette score = 0.28.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s" sz="1200"/>
              <a:t>PCA, 2 componentes y 54% varianza acumulada</a:t>
            </a:r>
            <a:endParaRPr sz="1200"/>
          </a:p>
        </p:txBody>
      </p:sp>
      <p:sp>
        <p:nvSpPr>
          <p:cNvPr id="335" name="Google Shape;335;p20"/>
          <p:cNvSpPr txBox="1"/>
          <p:nvPr>
            <p:ph idx="1" type="body"/>
          </p:nvPr>
        </p:nvSpPr>
        <p:spPr>
          <a:xfrm>
            <a:off x="429225" y="1502575"/>
            <a:ext cx="4354200" cy="87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es" sz="1200"/>
              <a:t>C</a:t>
            </a:r>
            <a:r>
              <a:rPr b="1" lang="es" sz="1200"/>
              <a:t>ONTEXTO: </a:t>
            </a:r>
            <a:r>
              <a:rPr lang="es" sz="1200"/>
              <a:t>Descubrir patrones y distancias. Utilizamos el modelo K-Means.</a:t>
            </a:r>
            <a:endParaRPr sz="1200"/>
          </a:p>
        </p:txBody>
      </p:sp>
      <p:pic>
        <p:nvPicPr>
          <p:cNvPr id="336" name="Google Shape;33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50938" y="2758750"/>
            <a:ext cx="3688825" cy="2131897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39850" y="242700"/>
            <a:ext cx="3910992" cy="23290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1"/>
          <p:cNvSpPr txBox="1"/>
          <p:nvPr>
            <p:ph type="title"/>
          </p:nvPr>
        </p:nvSpPr>
        <p:spPr>
          <a:xfrm>
            <a:off x="1152363" y="689375"/>
            <a:ext cx="2664300" cy="76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SEGMENTACIÓN</a:t>
            </a:r>
            <a:endParaRPr/>
          </a:p>
        </p:txBody>
      </p:sp>
      <p:sp>
        <p:nvSpPr>
          <p:cNvPr id="343" name="Google Shape;343;p21"/>
          <p:cNvSpPr txBox="1"/>
          <p:nvPr>
            <p:ph idx="1" type="body"/>
          </p:nvPr>
        </p:nvSpPr>
        <p:spPr>
          <a:xfrm>
            <a:off x="4572000" y="1185175"/>
            <a:ext cx="4394400" cy="310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rPr b="1" lang="es" sz="1100">
                <a:solidFill>
                  <a:schemeClr val="accent1"/>
                </a:solidFill>
              </a:rPr>
              <a:t>PERFILES:</a:t>
            </a:r>
            <a:endParaRPr b="1" sz="1100">
              <a:solidFill>
                <a:schemeClr val="accen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t/>
            </a:r>
            <a:endParaRPr b="1" sz="1100">
              <a:solidFill>
                <a:schemeClr val="accent1"/>
              </a:solidFill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Char char="●"/>
            </a:pPr>
            <a:r>
              <a:rPr lang="es" sz="1100">
                <a:solidFill>
                  <a:schemeClr val="accent1"/>
                </a:solidFill>
              </a:rPr>
              <a:t>Cluster 0: Usuarios de tecnología antigua, fidelizados con contratos estables, pero que no adoptan nuevas tecnologías.</a:t>
            </a:r>
            <a:endParaRPr sz="1100">
              <a:solidFill>
                <a:schemeClr val="accen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t/>
            </a:r>
            <a:endParaRPr sz="1100">
              <a:solidFill>
                <a:schemeClr val="accent1"/>
              </a:solidFill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Char char="●"/>
            </a:pPr>
            <a:r>
              <a:rPr lang="es" sz="1100">
                <a:solidFill>
                  <a:schemeClr val="accent1"/>
                </a:solidFill>
              </a:rPr>
              <a:t>Cluster 1: Usuarios de fibra óptica, pero no tienen lealtad a la marca ni consumen servicios extra.</a:t>
            </a:r>
            <a:endParaRPr sz="1100">
              <a:solidFill>
                <a:schemeClr val="accent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t/>
            </a:r>
            <a:endParaRPr sz="1100">
              <a:solidFill>
                <a:schemeClr val="accent1"/>
              </a:solidFill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Char char="●"/>
            </a:pPr>
            <a:r>
              <a:rPr lang="es" sz="1100">
                <a:solidFill>
                  <a:schemeClr val="accent1"/>
                </a:solidFill>
              </a:rPr>
              <a:t>Cluster 2: Usuarios que consumen la gama completa de servicios y están profundamente integrados en el ecosistema de la empresa.</a:t>
            </a:r>
            <a:endParaRPr sz="1100">
              <a:solidFill>
                <a:schemeClr val="accent1"/>
              </a:solidFill>
            </a:endParaRPr>
          </a:p>
        </p:txBody>
      </p:sp>
      <p:pic>
        <p:nvPicPr>
          <p:cNvPr id="344" name="Google Shape;344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0900" y="1869250"/>
            <a:ext cx="3647225" cy="24206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22"/>
          <p:cNvSpPr txBox="1"/>
          <p:nvPr>
            <p:ph type="title"/>
          </p:nvPr>
        </p:nvSpPr>
        <p:spPr>
          <a:xfrm>
            <a:off x="632375" y="772725"/>
            <a:ext cx="2553300" cy="186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/>
              <a:t>Clasificación</a:t>
            </a:r>
            <a:endParaRPr sz="3000"/>
          </a:p>
        </p:txBody>
      </p:sp>
      <p:sp>
        <p:nvSpPr>
          <p:cNvPr id="350" name="Google Shape;350;p22"/>
          <p:cNvSpPr txBox="1"/>
          <p:nvPr>
            <p:ph idx="1" type="body"/>
          </p:nvPr>
        </p:nvSpPr>
        <p:spPr>
          <a:xfrm>
            <a:off x="303175" y="2885000"/>
            <a:ext cx="3042900" cy="11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1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s"/>
              <a:t>Al maximizar el Recall (0.824), el Árbol de Decisión minimiza los falsos negativos a solo 66 casos. Para el negocio, esto es vital porque asegura detectar a la mayor cantidad de clientes en riesgo real de abandono, evitando la pérdida de ingresos al no aplicar medidas de retención a tiempo. </a:t>
            </a:r>
            <a:endParaRPr/>
          </a:p>
        </p:txBody>
      </p:sp>
      <p:sp>
        <p:nvSpPr>
          <p:cNvPr id="351" name="Google Shape;351;p22"/>
          <p:cNvSpPr txBox="1"/>
          <p:nvPr>
            <p:ph type="title"/>
          </p:nvPr>
        </p:nvSpPr>
        <p:spPr>
          <a:xfrm>
            <a:off x="3600900" y="772725"/>
            <a:ext cx="2105400" cy="186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/>
              <a:t>Regresión</a:t>
            </a:r>
            <a:endParaRPr sz="3000"/>
          </a:p>
        </p:txBody>
      </p:sp>
      <p:sp>
        <p:nvSpPr>
          <p:cNvPr id="352" name="Google Shape;352;p22"/>
          <p:cNvSpPr txBox="1"/>
          <p:nvPr>
            <p:ph type="title"/>
          </p:nvPr>
        </p:nvSpPr>
        <p:spPr>
          <a:xfrm>
            <a:off x="5862275" y="772725"/>
            <a:ext cx="2923200" cy="186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/>
              <a:t>Segmentación</a:t>
            </a:r>
            <a:endParaRPr sz="3000"/>
          </a:p>
        </p:txBody>
      </p:sp>
      <p:sp>
        <p:nvSpPr>
          <p:cNvPr id="353" name="Google Shape;353;p22"/>
          <p:cNvSpPr txBox="1"/>
          <p:nvPr>
            <p:ph idx="1" type="body"/>
          </p:nvPr>
        </p:nvSpPr>
        <p:spPr>
          <a:xfrm>
            <a:off x="3376950" y="2885000"/>
            <a:ext cx="2553300" cy="11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1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s"/>
              <a:t>Reducir el error de predicción a 4,7 meses permite proyectar el tiempo de vida del cliente con mayor exactitud. Para el negocio, esto es clave para calcular la rentabilidad real por usuario y anticipar cuándo aplicar acciones de retención de forma preventiva.</a:t>
            </a:r>
            <a:endParaRPr/>
          </a:p>
        </p:txBody>
      </p:sp>
      <p:sp>
        <p:nvSpPr>
          <p:cNvPr id="354" name="Google Shape;354;p22"/>
          <p:cNvSpPr txBox="1"/>
          <p:nvPr>
            <p:ph idx="1" type="body"/>
          </p:nvPr>
        </p:nvSpPr>
        <p:spPr>
          <a:xfrm>
            <a:off x="5959250" y="2885000"/>
            <a:ext cx="2553300" cy="11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1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s"/>
              <a:t>Enfocar esfuerzos de retención en el cluster 1 con estrategias destinadas a la adquisición del repertorio de servicios. Los otros dos, podrían ser considerados “seguros”, por tanto, se podrían adoptar medidas de prolongar o reforzar la fidelización con la empresa.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3"/>
          <p:cNvSpPr txBox="1"/>
          <p:nvPr>
            <p:ph type="title"/>
          </p:nvPr>
        </p:nvSpPr>
        <p:spPr>
          <a:xfrm>
            <a:off x="653850" y="184450"/>
            <a:ext cx="8222100" cy="101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GRACIAS</a:t>
            </a:r>
            <a:endParaRPr/>
          </a:p>
        </p:txBody>
      </p:sp>
      <p:pic>
        <p:nvPicPr>
          <p:cNvPr id="360" name="Google Shape;360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50425" y="1076700"/>
            <a:ext cx="2828950" cy="3946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