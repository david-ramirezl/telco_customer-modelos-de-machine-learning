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72D4D2-24C5-43E7-9FE5-9016901881B1}">
  <a:tblStyle styleId="{7872D4D2-24C5-43E7-9FE5-9016901881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unito-regular.fntdata"/><Relationship Id="rId16" Type="http://schemas.openxmlformats.org/officeDocument/2006/relationships/slide" Target="slides/slide10.xml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5347f3572d394ad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5347f3572d394ad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5347f3572d394ad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h5347f3572d394ad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5347f3572d394ad8_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5347f3572d394ad8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5347f3572d394ad8_4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5347f3572d394ad8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5347f3572d394ad8_4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h5347f3572d394ad8_4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5347f3572d394ad8_4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h5347f3572d394ad8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5347f3572d394ad8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h5347f3572d394ad8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6aa5fe9aaa3cc81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6aa5fe9aaa3cc81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5347f3572d394ad8_4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h5347f3572d394ad8_4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390525" y="1084250"/>
            <a:ext cx="7544100" cy="15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Machine Learning:</a:t>
            </a:r>
            <a:br>
              <a:rPr b="1" lang="es"/>
            </a:br>
            <a:r>
              <a:rPr b="1" lang="es"/>
              <a:t>Caso Telco Customer Churn.</a:t>
            </a:r>
            <a:endParaRPr b="1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390525" y="3207600"/>
            <a:ext cx="8222100" cy="16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46"/>
              <a:t>Integrantes:</a:t>
            </a:r>
            <a:endParaRPr b="1" sz="2846"/>
          </a:p>
          <a:p>
            <a:pPr indent="-3279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 sz="2846"/>
              <a:t>David </a:t>
            </a:r>
            <a:r>
              <a:rPr lang="es" sz="2846"/>
              <a:t>Ramírez</a:t>
            </a:r>
            <a:r>
              <a:rPr lang="es" sz="2846"/>
              <a:t>.</a:t>
            </a:r>
            <a:endParaRPr sz="2846"/>
          </a:p>
          <a:p>
            <a:pPr indent="-3279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 sz="2846"/>
              <a:t>Octavio Chavez.</a:t>
            </a:r>
            <a:endParaRPr sz="2846"/>
          </a:p>
          <a:p>
            <a:pPr indent="-3279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 sz="2846"/>
              <a:t>Felipe Huincaman.</a:t>
            </a:r>
            <a:endParaRPr sz="284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4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46"/>
              <a:t>Docente:</a:t>
            </a:r>
            <a:r>
              <a:rPr lang="es" sz="2846"/>
              <a:t> Jazna Meza Hidalgo</a:t>
            </a:r>
            <a:endParaRPr sz="284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46"/>
              <a:t>Secci</a:t>
            </a:r>
            <a:r>
              <a:rPr b="1" lang="es" sz="2846"/>
              <a:t>ón: </a:t>
            </a:r>
            <a:r>
              <a:rPr lang="es" sz="2846"/>
              <a:t>	001D</a:t>
            </a:r>
            <a:endParaRPr sz="284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4650" y="205400"/>
            <a:ext cx="2997976" cy="10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del negocio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Problema:</a:t>
            </a:r>
            <a:r>
              <a:rPr lang="es"/>
              <a:t> Captar un cliente cuesta 5 veces m</a:t>
            </a:r>
            <a:r>
              <a:rPr lang="es"/>
              <a:t>ás que retenerlo; la fuga descontrolada erosiona el margen.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Solución y objetivos:</a:t>
            </a:r>
            <a:r>
              <a:rPr lang="es"/>
              <a:t> Modelos de ML para segmentar usuarios, anticipar abandono y predecir su permanencia (tenure), optimizando el gasto de retención con resguardo ético y normativo. </a:t>
            </a:r>
            <a:endParaRPr/>
          </a:p>
        </p:txBody>
      </p:sp>
      <p:sp>
        <p:nvSpPr>
          <p:cNvPr id="286" name="Google Shape;286;p14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KPIs de impacto: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b="1" lang="es"/>
              <a:t>Retenci</a:t>
            </a:r>
            <a:r>
              <a:rPr b="1" lang="es"/>
              <a:t>ón Predictiva: </a:t>
            </a:r>
            <a:r>
              <a:rPr lang="es"/>
              <a:t>% de rescates exitoso.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s"/>
              <a:t>Ingresos Recuperados: </a:t>
            </a:r>
            <a:r>
              <a:rPr lang="es"/>
              <a:t>Cuota X Tenure predicho.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s"/>
              <a:t>ROI de Retención: </a:t>
            </a:r>
            <a:r>
              <a:rPr lang="es"/>
              <a:t>Eficiencia financiera del gasto.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s"/>
              <a:t>Fuga por Clúster: </a:t>
            </a:r>
            <a:r>
              <a:rPr lang="es"/>
              <a:t>Riesgo por segmento.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1260000" y="517900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</a:t>
            </a:r>
            <a:r>
              <a:rPr lang="es"/>
              <a:t>álisis Exploratorio de Datos (EDA)</a:t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4443800" y="1289525"/>
            <a:ext cx="4402200" cy="3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64">
                <a:solidFill>
                  <a:schemeClr val="accent1"/>
                </a:solidFill>
              </a:rPr>
              <a:t>Revisión y calidad de los datos:</a:t>
            </a:r>
            <a:endParaRPr b="1" sz="3664">
              <a:solidFill>
                <a:schemeClr val="accent1"/>
              </a:solidFill>
            </a:endParaRPr>
          </a:p>
          <a:p>
            <a:pPr indent="-304222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-"/>
            </a:pPr>
            <a:r>
              <a:rPr lang="es" sz="3664">
                <a:solidFill>
                  <a:schemeClr val="accent1"/>
                </a:solidFill>
              </a:rPr>
              <a:t>Este Dataset contiene </a:t>
            </a:r>
            <a:r>
              <a:rPr b="1" lang="es" sz="3664">
                <a:solidFill>
                  <a:schemeClr val="accent1"/>
                </a:solidFill>
              </a:rPr>
              <a:t>7.043 Registros </a:t>
            </a:r>
            <a:r>
              <a:rPr lang="es" sz="3664">
                <a:solidFill>
                  <a:schemeClr val="accent1"/>
                </a:solidFill>
              </a:rPr>
              <a:t>totales y </a:t>
            </a:r>
            <a:r>
              <a:rPr b="1" lang="es" sz="3664">
                <a:solidFill>
                  <a:schemeClr val="accent1"/>
                </a:solidFill>
              </a:rPr>
              <a:t>21 Columnas.</a:t>
            </a:r>
            <a:endParaRPr b="1" sz="3664">
              <a:solidFill>
                <a:schemeClr val="accent1"/>
              </a:solidFill>
            </a:endParaRPr>
          </a:p>
          <a:p>
            <a:pPr indent="-30422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-"/>
            </a:pPr>
            <a:r>
              <a:rPr b="1" lang="es" sz="3664">
                <a:solidFill>
                  <a:schemeClr val="accent1"/>
                </a:solidFill>
              </a:rPr>
              <a:t>Anonimización: </a:t>
            </a:r>
            <a:r>
              <a:rPr lang="es" sz="3664">
                <a:solidFill>
                  <a:schemeClr val="accent1"/>
                </a:solidFill>
              </a:rPr>
              <a:t>Hash</a:t>
            </a:r>
            <a:r>
              <a:rPr b="1" lang="es" sz="3664">
                <a:solidFill>
                  <a:schemeClr val="accent1"/>
                </a:solidFill>
              </a:rPr>
              <a:t> SHA-256</a:t>
            </a:r>
            <a:r>
              <a:rPr lang="es" sz="3664">
                <a:solidFill>
                  <a:schemeClr val="accent1"/>
                </a:solidFill>
              </a:rPr>
              <a:t> a la identificación de cada cliente (</a:t>
            </a:r>
            <a:r>
              <a:rPr b="1" i="1" lang="es" sz="3664">
                <a:solidFill>
                  <a:schemeClr val="accent1"/>
                </a:solidFill>
              </a:rPr>
              <a:t>CustomerID</a:t>
            </a:r>
            <a:r>
              <a:rPr lang="es" sz="3664">
                <a:solidFill>
                  <a:schemeClr val="accent1"/>
                </a:solidFill>
              </a:rPr>
              <a:t>) para proteger la privacidad de los usuarios desde el principio.</a:t>
            </a:r>
            <a:endParaRPr sz="3664">
              <a:solidFill>
                <a:schemeClr val="accent1"/>
              </a:solidFill>
            </a:endParaRPr>
          </a:p>
          <a:p>
            <a:pPr indent="-30422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-"/>
            </a:pPr>
            <a:r>
              <a:rPr b="1" lang="es" sz="3664">
                <a:solidFill>
                  <a:schemeClr val="accent1"/>
                </a:solidFill>
              </a:rPr>
              <a:t>Completitud e Imputación: </a:t>
            </a:r>
            <a:r>
              <a:rPr lang="es" sz="3664">
                <a:solidFill>
                  <a:schemeClr val="accent1"/>
                </a:solidFill>
              </a:rPr>
              <a:t>Datos limpios; solo se imputaron con cero 11 nulos en cargos totales, correspondientes a clientes con antigüedad cero.</a:t>
            </a:r>
            <a:endParaRPr sz="3664">
              <a:solidFill>
                <a:schemeClr val="accent1"/>
              </a:solidFill>
            </a:endParaRPr>
          </a:p>
          <a:p>
            <a:pPr indent="-30422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-"/>
            </a:pPr>
            <a:r>
              <a:rPr b="1" lang="es" sz="3664">
                <a:solidFill>
                  <a:schemeClr val="accent1"/>
                </a:solidFill>
              </a:rPr>
              <a:t>Duplicidad: </a:t>
            </a:r>
            <a:r>
              <a:rPr lang="es" sz="3664">
                <a:solidFill>
                  <a:schemeClr val="accent1"/>
                </a:solidFill>
              </a:rPr>
              <a:t>No se detectaron registros duplicados.</a:t>
            </a:r>
            <a:endParaRPr sz="3664">
              <a:solidFill>
                <a:schemeClr val="accent1"/>
              </a:solidFill>
            </a:endParaRPr>
          </a:p>
          <a:p>
            <a:pPr indent="-304222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-"/>
            </a:pPr>
            <a:r>
              <a:rPr b="1" lang="es" sz="3664">
                <a:solidFill>
                  <a:schemeClr val="accent1"/>
                </a:solidFill>
              </a:rPr>
              <a:t>Outliers:</a:t>
            </a:r>
            <a:r>
              <a:rPr lang="es" sz="3664">
                <a:solidFill>
                  <a:schemeClr val="accent1"/>
                </a:solidFill>
              </a:rPr>
              <a:t> La prueba </a:t>
            </a:r>
            <a:r>
              <a:rPr b="1" lang="es" sz="3664">
                <a:solidFill>
                  <a:schemeClr val="accent1"/>
                </a:solidFill>
              </a:rPr>
              <a:t>IQR</a:t>
            </a:r>
            <a:r>
              <a:rPr lang="es" sz="3664">
                <a:solidFill>
                  <a:schemeClr val="accent1"/>
                </a:solidFill>
              </a:rPr>
              <a:t> confirmó la ausencia de valores atípicos en antigüedad y cargos.</a:t>
            </a:r>
            <a:endParaRPr sz="3664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lt2"/>
              </a:solidFill>
            </a:endParaRPr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589150" y="2300950"/>
            <a:ext cx="3459900" cy="23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Dataset: </a:t>
            </a:r>
            <a:r>
              <a:rPr i="1" lang="es" sz="1400"/>
              <a:t>telco_customer_churn.csv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/>
              <a:t>Variable Objetivo:</a:t>
            </a:r>
            <a:r>
              <a:rPr lang="es" sz="1400"/>
              <a:t> Churn (Indica si el cliente abandona o no el servicio)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/>
              <a:t>Variables eliminadas: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i="1" lang="es" sz="1400"/>
              <a:t>CustomerID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Preparaci</a:t>
            </a:r>
            <a:r>
              <a:rPr lang="es"/>
              <a:t>ón y transformación de los datos 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Pipelines de transformaci</a:t>
            </a:r>
            <a:r>
              <a:rPr b="1" lang="es"/>
              <a:t>ón: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b="1" lang="es"/>
              <a:t>Estandarización automática: </a:t>
            </a:r>
            <a:r>
              <a:rPr lang="es"/>
              <a:t>Convierte textos a números según su orden lógico y completa </a:t>
            </a:r>
            <a:r>
              <a:rPr lang="es"/>
              <a:t>vacíos</a:t>
            </a:r>
            <a:r>
              <a:rPr lang="es"/>
              <a:t> de forma automática.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s"/>
              <a:t>Sin fuga de datos: </a:t>
            </a:r>
            <a:r>
              <a:rPr lang="es"/>
              <a:t>Garantiza un flujo transparente que evita que el modelo use información futura durante su entrenamiento.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460950" y="244400"/>
            <a:ext cx="8222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REGRESIÓN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77100" y="1812863"/>
            <a:ext cx="2023200" cy="15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REGRESIÓN LINEAL:</a:t>
            </a:r>
            <a:endParaRPr b="1" sz="1200"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1200"/>
              <a:t>R2 (Coeficiente de determinación): 87,6%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200"/>
              <a:t> </a:t>
            </a:r>
            <a:r>
              <a:rPr lang="es" sz="1200"/>
              <a:t>MAE (Error Absoluto Medio): 6,7</a:t>
            </a:r>
            <a:endParaRPr sz="1200"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2100300" y="1812863"/>
            <a:ext cx="2023200" cy="15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ÁRBOL DE DECISIÓN:</a:t>
            </a:r>
            <a:endParaRPr b="1" sz="1200"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1200"/>
              <a:t>R2 (Coeficiente de determinación): 92,6%</a:t>
            </a:r>
            <a:endParaRPr sz="1200"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200"/>
              <a:t>MAE (Error Absoluto Medio): 4,7</a:t>
            </a:r>
            <a:endParaRPr sz="1200"/>
          </a:p>
        </p:txBody>
      </p:sp>
      <p:sp>
        <p:nvSpPr>
          <p:cNvPr id="307" name="Google Shape;307;p17"/>
          <p:cNvSpPr txBox="1"/>
          <p:nvPr>
            <p:ph idx="1" type="body"/>
          </p:nvPr>
        </p:nvSpPr>
        <p:spPr>
          <a:xfrm>
            <a:off x="77100" y="3354275"/>
            <a:ext cx="4123500" cy="12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CONCLU</a:t>
            </a:r>
            <a:r>
              <a:rPr b="1" lang="es" sz="1200"/>
              <a:t>SIÓN: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Árbol de Decisión es el modelo más confiable al registrar el MAE más bajo.</a:t>
            </a:r>
            <a:endParaRPr sz="1200"/>
          </a:p>
        </p:txBody>
      </p:sp>
      <p:sp>
        <p:nvSpPr>
          <p:cNvPr id="308" name="Google Shape;308;p17"/>
          <p:cNvSpPr txBox="1"/>
          <p:nvPr>
            <p:ph idx="1" type="body"/>
          </p:nvPr>
        </p:nvSpPr>
        <p:spPr>
          <a:xfrm>
            <a:off x="1321575" y="1012088"/>
            <a:ext cx="51561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rgbClr val="374151"/>
                </a:solidFill>
              </a:rPr>
              <a:t>CONTEXTO: </a:t>
            </a:r>
            <a:r>
              <a:rPr lang="es" sz="1200">
                <a:solidFill>
                  <a:srgbClr val="374151"/>
                </a:solidFill>
              </a:rPr>
              <a:t>Variable objetivo tenure (permanencia).</a:t>
            </a:r>
            <a:endParaRPr sz="1200">
              <a:solidFill>
                <a:srgbClr val="374151"/>
              </a:solidFill>
            </a:endParaRPr>
          </a:p>
        </p:txBody>
      </p:sp>
      <p:pic>
        <p:nvPicPr>
          <p:cNvPr id="309" name="Google Shape;3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57550"/>
            <a:ext cx="4123501" cy="3260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CLASIFICACIÓN</a:t>
            </a:r>
            <a:endParaRPr/>
          </a:p>
        </p:txBody>
      </p:sp>
      <p:pic>
        <p:nvPicPr>
          <p:cNvPr id="315" name="Google Shape;3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725" y="1461050"/>
            <a:ext cx="2127192" cy="16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7888" y="1461050"/>
            <a:ext cx="2127165" cy="16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900" y="3169700"/>
            <a:ext cx="1956700" cy="1690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0563" y="3188638"/>
            <a:ext cx="1956700" cy="165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55038" y="3188638"/>
            <a:ext cx="1912867" cy="16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5313" y="1461050"/>
            <a:ext cx="2127199" cy="165310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8"/>
          <p:cNvSpPr txBox="1"/>
          <p:nvPr>
            <p:ph idx="1" type="body"/>
          </p:nvPr>
        </p:nvSpPr>
        <p:spPr>
          <a:xfrm>
            <a:off x="4354325" y="790450"/>
            <a:ext cx="44169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200"/>
              <a:t>CONTEXTO: </a:t>
            </a:r>
            <a:r>
              <a:rPr lang="es" sz="1200"/>
              <a:t>Variable objetivo Churn (abandono).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CLASIFICACIÓN</a:t>
            </a:r>
            <a:endParaRPr/>
          </a:p>
        </p:txBody>
      </p:sp>
      <p:sp>
        <p:nvSpPr>
          <p:cNvPr id="327" name="Google Shape;327;p19"/>
          <p:cNvSpPr txBox="1"/>
          <p:nvPr>
            <p:ph idx="1" type="body"/>
          </p:nvPr>
        </p:nvSpPr>
        <p:spPr>
          <a:xfrm>
            <a:off x="432150" y="3661350"/>
            <a:ext cx="7315500" cy="11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CONCLUSIÓN: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Árbol de Decisión es el modelo más confiable al registrar el Recall más alto de los 3 modelos.</a:t>
            </a:r>
            <a:endParaRPr sz="1200"/>
          </a:p>
        </p:txBody>
      </p:sp>
      <p:graphicFrame>
        <p:nvGraphicFramePr>
          <p:cNvPr id="328" name="Google Shape;328;p19"/>
          <p:cNvGraphicFramePr/>
          <p:nvPr/>
        </p:nvGraphicFramePr>
        <p:xfrm>
          <a:off x="493825" y="170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{7872D4D2-24C5-43E7-9FE5-9016901881B1}</a:tableStyleId>
              </a:tblPr>
              <a:tblGrid>
                <a:gridCol w="1539475"/>
                <a:gridCol w="1021025"/>
                <a:gridCol w="937225"/>
                <a:gridCol w="751775"/>
                <a:gridCol w="836550"/>
                <a:gridCol w="1428150"/>
                <a:gridCol w="1359675"/>
                <a:gridCol w="646975"/>
              </a:tblGrid>
              <a:tr h="37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Exactitud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Falsos Negativos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Falsos Positivos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37415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Regresión Logística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72.2%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0.486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0.791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0.602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313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0.831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SVM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73.4%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0.499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0.767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0.605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288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0.813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Árbol de Decisión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71.3%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0.476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0.824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0.603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66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339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00" u="none" cap="none" strike="noStrike">
                          <a:solidFill>
                            <a:srgbClr val="1F293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0.827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>
            <p:ph type="title"/>
          </p:nvPr>
        </p:nvSpPr>
        <p:spPr>
          <a:xfrm>
            <a:off x="1348375" y="595075"/>
            <a:ext cx="73803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SEGMENTACIÓN</a:t>
            </a:r>
            <a:endParaRPr/>
          </a:p>
        </p:txBody>
      </p:sp>
      <p:sp>
        <p:nvSpPr>
          <p:cNvPr id="334" name="Google Shape;334;p20"/>
          <p:cNvSpPr txBox="1"/>
          <p:nvPr>
            <p:ph idx="1" type="body"/>
          </p:nvPr>
        </p:nvSpPr>
        <p:spPr>
          <a:xfrm>
            <a:off x="429225" y="2455000"/>
            <a:ext cx="4123500" cy="16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ANTECEDENTES</a:t>
            </a:r>
            <a:r>
              <a:rPr b="1" lang="es" sz="1200"/>
              <a:t>: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KNeed, k-</a:t>
            </a:r>
            <a:r>
              <a:rPr lang="es" sz="1200"/>
              <a:t>óptimo=3.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Descarte Churn y ID.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Inercia = 3725.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Silhouette score = 0.28.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PCA, 2 componentes y 54% varianza acumulada</a:t>
            </a:r>
            <a:endParaRPr sz="1200"/>
          </a:p>
        </p:txBody>
      </p:sp>
      <p:sp>
        <p:nvSpPr>
          <p:cNvPr id="335" name="Google Shape;335;p20"/>
          <p:cNvSpPr txBox="1"/>
          <p:nvPr>
            <p:ph idx="1" type="body"/>
          </p:nvPr>
        </p:nvSpPr>
        <p:spPr>
          <a:xfrm>
            <a:off x="429225" y="1502575"/>
            <a:ext cx="43542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200"/>
              <a:t>C</a:t>
            </a:r>
            <a:r>
              <a:rPr b="1" lang="es" sz="1200"/>
              <a:t>ONTEXTO: </a:t>
            </a:r>
            <a:r>
              <a:rPr lang="es" sz="1200"/>
              <a:t>Descubrir patrones y distancias. Utilizamos el modelo K-Means.</a:t>
            </a:r>
            <a:endParaRPr sz="1200"/>
          </a:p>
        </p:txBody>
      </p:sp>
      <p:pic>
        <p:nvPicPr>
          <p:cNvPr id="336" name="Google Shape;3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938" y="2758750"/>
            <a:ext cx="3688825" cy="213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9850" y="242700"/>
            <a:ext cx="3910992" cy="232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"/>
          <p:cNvSpPr txBox="1"/>
          <p:nvPr>
            <p:ph type="title"/>
          </p:nvPr>
        </p:nvSpPr>
        <p:spPr>
          <a:xfrm>
            <a:off x="1152363" y="689375"/>
            <a:ext cx="26643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SEGMENTACIÓN</a:t>
            </a:r>
            <a:endParaRPr/>
          </a:p>
        </p:txBody>
      </p:sp>
      <p:sp>
        <p:nvSpPr>
          <p:cNvPr id="343" name="Google Shape;343;p21"/>
          <p:cNvSpPr txBox="1"/>
          <p:nvPr>
            <p:ph idx="1" type="body"/>
          </p:nvPr>
        </p:nvSpPr>
        <p:spPr>
          <a:xfrm>
            <a:off x="4572000" y="1185175"/>
            <a:ext cx="4394400" cy="31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s" sz="1100">
                <a:solidFill>
                  <a:schemeClr val="accent1"/>
                </a:solidFill>
              </a:rPr>
              <a:t>PERFILES:</a:t>
            </a:r>
            <a:endParaRPr b="1" sz="11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11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s" sz="1100">
                <a:solidFill>
                  <a:schemeClr val="accent1"/>
                </a:solidFill>
              </a:rPr>
              <a:t>Cluster 0: Usuarios de tecnología antigua, fidelizados con contratos estables, pero que no adoptan nuevas tecnologías.</a:t>
            </a:r>
            <a:endParaRPr sz="11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s" sz="1100">
                <a:solidFill>
                  <a:schemeClr val="accent1"/>
                </a:solidFill>
              </a:rPr>
              <a:t>Cluster 1: Usuarios de fibra óptica, pero no tienen lealtad a la marca ni consumen servicios extra.</a:t>
            </a:r>
            <a:endParaRPr sz="11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>
              <a:solidFill>
                <a:schemeClr val="accent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</a:pPr>
            <a:r>
              <a:rPr lang="es" sz="1100">
                <a:solidFill>
                  <a:schemeClr val="accent1"/>
                </a:solidFill>
              </a:rPr>
              <a:t>Cluster 2: Usuarios que consumen la gama completa de servicios y están profundamente integrados en el ecosistema de la empresa.</a:t>
            </a:r>
            <a:endParaRPr sz="1100">
              <a:solidFill>
                <a:schemeClr val="accent1"/>
              </a:solidFill>
            </a:endParaRPr>
          </a:p>
        </p:txBody>
      </p:sp>
      <p:pic>
        <p:nvPicPr>
          <p:cNvPr id="344" name="Google Shape;3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900" y="1869250"/>
            <a:ext cx="3647225" cy="242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"/>
          <p:cNvSpPr txBox="1"/>
          <p:nvPr>
            <p:ph type="title"/>
          </p:nvPr>
        </p:nvSpPr>
        <p:spPr>
          <a:xfrm>
            <a:off x="653850" y="1844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</a:t>
            </a:r>
            <a:endParaRPr/>
          </a:p>
        </p:txBody>
      </p:sp>
      <p:pic>
        <p:nvPicPr>
          <p:cNvPr id="350" name="Google Shape;3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0425" y="1076700"/>
            <a:ext cx="2828950" cy="394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